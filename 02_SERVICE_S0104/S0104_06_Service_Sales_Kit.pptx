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4E78"/>
          </a:solidFill>
          <a:ln w="12700">
            <a:solidFill>
              <a:srgbClr val="1F4E78"/>
            </a:solidFill>
            <a:prstDash val="solid"/>
          </a:ln>
        </p:spPr>
      </p:sp>
      <p:sp>
        <p:nvSpPr>
          <p:cNvPr id="3" name="Text 1"/>
          <p:cNvSpPr/>
          <p:nvPr/>
        </p:nvSpPr>
        <p:spPr>
          <a:xfrm>
            <a:off x="502920" y="164592"/>
            <a:ext cx="6400800" cy="228600"/>
          </a:xfrm>
          <a:prstGeom prst="rect">
            <a:avLst/>
          </a:prstGeom>
          <a:noFill/>
          <a:ln/>
        </p:spPr>
        <p:txBody>
          <a:bodyPr wrap="square" rtlCol="0" anchor="ctr"/>
          <a:lstStyle/>
          <a:p>
            <a:pPr indent="0" marL="0">
              <a:buNone/>
            </a:pPr>
            <a:r>
              <a:rPr lang="en-US" sz="800" b="1" dirty="0">
                <a:solidFill>
                  <a:srgbClr val="637083"/>
                </a:solidFill>
                <a:latin typeface="Arial" pitchFamily="34" charset="0"/>
                <a:ea typeface="Arial" pitchFamily="34" charset="-122"/>
                <a:cs typeface="Arial" pitchFamily="34" charset="-120"/>
              </a:rPr>
              <a:t>GASCOLAE PLATFORM  |  GROUP 2 — BUSINESS ASSETS</a:t>
            </a:r>
            <a:endParaRPr lang="en-US" sz="800" dirty="0"/>
          </a:p>
        </p:txBody>
      </p:sp>
      <p:sp>
        <p:nvSpPr>
          <p:cNvPr id="4" name="Text 2"/>
          <p:cNvSpPr/>
          <p:nvPr/>
        </p:nvSpPr>
        <p:spPr>
          <a:xfrm>
            <a:off x="9326880" y="164592"/>
            <a:ext cx="2331720" cy="228600"/>
          </a:xfrm>
          <a:prstGeom prst="rect">
            <a:avLst/>
          </a:prstGeom>
          <a:noFill/>
          <a:ln/>
        </p:spPr>
        <p:txBody>
          <a:bodyPr wrap="square" rtlCol="0" anchor="ctr"/>
          <a:lstStyle/>
          <a:p>
            <a:pPr algn="r" indent="0" marL="0">
              <a:buNone/>
            </a:pPr>
            <a:r>
              <a:rPr lang="en-US" sz="800" dirty="0">
                <a:solidFill>
                  <a:srgbClr val="637083"/>
                </a:solidFill>
                <a:latin typeface="Arial" pitchFamily="34" charset="0"/>
                <a:ea typeface="Arial" pitchFamily="34" charset="-122"/>
                <a:cs typeface="Arial" pitchFamily="34" charset="-120"/>
              </a:rPr>
              <a:t>06 — SERVICE SALES KIT</a:t>
            </a:r>
            <a:endParaRPr lang="en-US" sz="800" dirty="0"/>
          </a:p>
        </p:txBody>
      </p:sp>
      <p:sp>
        <p:nvSpPr>
          <p:cNvPr id="5" name="Shape 3"/>
          <p:cNvSpPr/>
          <p:nvPr/>
        </p:nvSpPr>
        <p:spPr>
          <a:xfrm>
            <a:off x="502920" y="6537960"/>
            <a:ext cx="11155680" cy="0"/>
          </a:xfrm>
          <a:prstGeom prst="line">
            <a:avLst/>
          </a:prstGeom>
          <a:noFill/>
          <a:ln w="12700">
            <a:solidFill>
              <a:srgbClr val="D8E0EA"/>
            </a:solidFill>
            <a:prstDash val="solid"/>
          </a:ln>
        </p:spPr>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17365D"/>
          </a:solidFill>
          <a:ln w="12700">
            <a:solidFill>
              <a:srgbClr val="17365D"/>
            </a:solidFill>
            <a:prstDash val="solid"/>
          </a:ln>
        </p:spPr>
      </p:sp>
      <p:sp>
        <p:nvSpPr>
          <p:cNvPr id="3" name="Text 1"/>
          <p:cNvSpPr/>
          <p:nvPr/>
        </p:nvSpPr>
        <p:spPr>
          <a:xfrm>
            <a:off x="594360" y="1005840"/>
            <a:ext cx="2286000" cy="914400"/>
          </a:xfrm>
          <a:prstGeom prst="rect">
            <a:avLst/>
          </a:prstGeom>
          <a:noFill/>
          <a:ln/>
        </p:spPr>
        <p:txBody>
          <a:bodyPr wrap="square" lIns="0" tIns="0" rIns="0" bIns="0" rtlCol="0" anchor="ctr"/>
          <a:lstStyle/>
          <a:p>
            <a:pPr indent="0" marL="0">
              <a:buNone/>
            </a:pPr>
            <a:r>
              <a:rPr lang="en-US" sz="5800" b="1" dirty="0">
                <a:solidFill>
                  <a:srgbClr val="FFFFFF"/>
                </a:solidFill>
              </a:rPr>
              <a:t>06</a:t>
            </a:r>
            <a:endParaRPr lang="en-US" sz="5800" dirty="0"/>
          </a:p>
        </p:txBody>
      </p:sp>
      <p:sp>
        <p:nvSpPr>
          <p:cNvPr id="4" name="Text 2"/>
          <p:cNvSpPr/>
          <p:nvPr/>
        </p:nvSpPr>
        <p:spPr>
          <a:xfrm>
            <a:off x="612648" y="1965960"/>
            <a:ext cx="2560320" cy="1097280"/>
          </a:xfrm>
          <a:prstGeom prst="rect">
            <a:avLst/>
          </a:prstGeom>
          <a:noFill/>
          <a:ln/>
        </p:spPr>
        <p:txBody>
          <a:bodyPr wrap="square" lIns="0" tIns="0" rIns="0" bIns="0" rtlCol="0" anchor="ctr"/>
          <a:lstStyle/>
          <a:p>
            <a:pPr indent="0" marL="0">
              <a:buNone/>
            </a:pPr>
            <a:r>
              <a:rPr lang="en-US" sz="2500" b="1" dirty="0">
                <a:solidFill>
                  <a:srgbClr val="FFFFFF"/>
                </a:solidFill>
              </a:rPr>
              <a:t>SERVICE</a:t>
            </a:r>
            <a:endParaRPr lang="en-US" sz="2500" dirty="0"/>
          </a:p>
          <a:p>
            <a:pPr indent="0" marL="0">
              <a:buNone/>
            </a:pPr>
            <a:r>
              <a:rPr lang="en-US" sz="2500" b="1" dirty="0">
                <a:solidFill>
                  <a:srgbClr val="FFFFFF"/>
                </a:solidFill>
              </a:rPr>
              <a:t>SALES KIT</a:t>
            </a:r>
            <a:endParaRPr lang="en-US" sz="2500" dirty="0"/>
          </a:p>
        </p:txBody>
      </p:sp>
      <p:sp>
        <p:nvSpPr>
          <p:cNvPr id="5" name="Text 3"/>
          <p:cNvSpPr/>
          <p:nvPr/>
        </p:nvSpPr>
        <p:spPr>
          <a:xfrm>
            <a:off x="640080" y="3291840"/>
            <a:ext cx="2651760" cy="365760"/>
          </a:xfrm>
          <a:prstGeom prst="rect">
            <a:avLst/>
          </a:prstGeom>
          <a:noFill/>
          <a:ln/>
        </p:spPr>
        <p:txBody>
          <a:bodyPr wrap="square" lIns="0" tIns="0" rIns="0" bIns="0" rtlCol="0" anchor="ctr"/>
          <a:lstStyle/>
          <a:p>
            <a:pPr indent="0" marL="0">
              <a:buNone/>
            </a:pPr>
            <a:r>
              <a:rPr lang="en-US" sz="1000" b="1" dirty="0">
                <a:solidFill>
                  <a:srgbClr val="C7D9EA"/>
                </a:solidFill>
              </a:rPr>
              <a:t>GROUP 2 — BUSINESS ASSETS</a:t>
            </a:r>
            <a:endParaRPr lang="en-US" sz="1000" dirty="0"/>
          </a:p>
        </p:txBody>
      </p:sp>
      <p:sp>
        <p:nvSpPr>
          <p:cNvPr id="6" name="Text 4"/>
          <p:cNvSpPr/>
          <p:nvPr/>
        </p:nvSpPr>
        <p:spPr>
          <a:xfrm>
            <a:off x="4343400" y="1280160"/>
            <a:ext cx="6858000" cy="548640"/>
          </a:xfrm>
          <a:prstGeom prst="rect">
            <a:avLst/>
          </a:prstGeom>
          <a:noFill/>
          <a:ln/>
        </p:spPr>
        <p:txBody>
          <a:bodyPr wrap="square" lIns="36576" tIns="18288" rIns="36576" bIns="18288" rtlCol="0" anchor="ctr"/>
          <a:lstStyle/>
          <a:p>
            <a:pPr>
              <a:defRPr sz="1100" b="1">
                <a:latin typeface="Arial"/>
              </a:defRPr>
            </a:pPr>
            <a:r>
              <a:t>GASCOLAE PLATFORM — HỆ SINH THÁI UAV KINH TẾ TẦM THẤP</a:t>
            </a:r>
          </a:p>
        </p:txBody>
      </p:sp>
      <p:sp>
        <p:nvSpPr>
          <p:cNvPr id="7" name="Text 5"/>
          <p:cNvSpPr/>
          <p:nvPr/>
        </p:nvSpPr>
        <p:spPr>
          <a:xfrm>
            <a:off x="4370832" y="2011680"/>
            <a:ext cx="6675120" cy="822960"/>
          </a:xfrm>
          <a:prstGeom prst="rect">
            <a:avLst/>
          </a:prstGeom>
          <a:noFill/>
          <a:ln/>
        </p:spPr>
        <p:txBody>
          <a:bodyPr wrap="square" lIns="36576" tIns="18288" rIns="36576" bIns="18288" rtlCol="0" anchor="t"/>
          <a:lstStyle/>
          <a:p>
            <a:pPr>
              <a:defRPr sz="2000" b="1">
                <a:latin typeface="Arial"/>
              </a:defRPr>
            </a:pPr>
            <a:r>
              <a:t>ĐÁNH GIÁ BÓNG RÂM TUYẾN XE BUÝT TỐI ƯU ĐIỂM DỪNG</a:t>
            </a:r>
          </a:p>
          <a:p>
            <a:pPr>
              <a:defRPr sz="2000" b="1">
                <a:latin typeface="Arial"/>
              </a:defRPr>
            </a:pPr>
            <a:r>
              <a:t>Service ID: S0104</a:t>
            </a:r>
          </a:p>
        </p:txBody>
      </p:sp>
      <p:sp>
        <p:nvSpPr>
          <p:cNvPr id="8" name="Text 6"/>
          <p:cNvSpPr/>
          <p:nvPr/>
        </p:nvSpPr>
        <p:spPr>
          <a:xfrm>
            <a:off x="4389120" y="3154680"/>
            <a:ext cx="6720840" cy="960120"/>
          </a:xfrm>
          <a:prstGeom prst="rect">
            <a:avLst/>
          </a:prstGeom>
          <a:noFill/>
          <a:ln/>
        </p:spPr>
        <p:txBody>
          <a:bodyPr wrap="square" lIns="36576" tIns="18288" rIns="36576" bIns="18288" rtlCol="0" anchor="t"/>
          <a:lstStyle/>
          <a:p>
            <a:pPr algn="l">
              <a:lnSpc>
                <a:spcPct val="115000"/>
              </a:lnSpc>
              <a:spcBef>
                <a:spcPts val="0"/>
              </a:spcBef>
              <a:spcAft>
                <a:spcPts val="200"/>
              </a:spcAft>
            </a:pPr>
            <a:r>
              <a:rPr sz="1100" b="0">
                <a:latin typeface="Arial"/>
              </a:rPr>
              <a:t>Giải pháp trắc địa không ảnh 3D và mô phỏng vi khí hậu bức xạ mặt trời tối ưu hóa vị trí đón trả khách, giảm 8–15°C nhiệt độ cảm nhận cho hành khách chờ xe buýt.</a:t>
            </a:r>
          </a:p>
        </p:txBody>
      </p:sp>
      <p:sp>
        <p:nvSpPr>
          <p:cNvPr id="10" name="Text 8"/>
          <p:cNvSpPr/>
          <p:nvPr/>
        </p:nvSpPr>
        <p:spPr>
          <a:xfrm>
            <a:off x="4389120" y="5577840"/>
            <a:ext cx="1828800" cy="274320"/>
          </a:xfrm>
          <a:prstGeom prst="rect">
            <a:avLst/>
          </a:prstGeom>
          <a:noFill/>
          <a:ln/>
        </p:spPr>
        <p:txBody>
          <a:bodyPr wrap="square" lIns="0" tIns="0" rIns="0" bIns="0" rtlCol="0" anchor="ctr"/>
          <a:lstStyle/>
          <a:p>
            <a:pPr indent="0" marL="0">
              <a:buNone/>
            </a:pPr>
            <a:r>
              <a:rPr lang="en-US" sz="900" dirty="0">
                <a:solidFill>
                  <a:srgbClr val="637083"/>
                </a:solidFill>
              </a:rPr>
              <a:t>Version 1.0</a:t>
            </a:r>
            <a:endParaRPr lang="en-US" sz="900" dirty="0"/>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indent="0" marL="0">
              <a:buNone/>
            </a:pPr>
            <a:r>
              <a:rPr lang="en-US" sz="2300" b="1" dirty="0">
                <a:solidFill>
                  <a:srgbClr val="17365D"/>
                </a:solidFill>
                <a:latin typeface="Arial" pitchFamily="34" charset="0"/>
                <a:ea typeface="Arial" pitchFamily="34" charset="-122"/>
                <a:cs typeface="Arial" pitchFamily="34" charset="-120"/>
              </a:rPr>
              <a:t>01. TARGET MARKET &amp; CUSTOMER</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indent="0" marL="0">
              <a:buNone/>
            </a:pPr>
            <a:r>
              <a:rPr lang="en-US" sz="1050" dirty="0">
                <a:solidFill>
                  <a:srgbClr val="637083"/>
                </a:solidFill>
                <a:latin typeface="Arial" pitchFamily="34" charset="0"/>
                <a:ea typeface="Arial" pitchFamily="34" charset="-122"/>
                <a:cs typeface="Arial" pitchFamily="34" charset="-120"/>
              </a:rPr>
              <a:t>Ai là khách hàng phù hợp nhất với service này?</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algn="ctr" indent="0" marL="0">
              <a:buNone/>
            </a:pPr>
            <a:r>
              <a:rPr lang="en-US" sz="850" b="1" dirty="0">
                <a:solidFill>
                  <a:srgbClr val="1F4E78"/>
                </a:solidFill>
                <a:latin typeface="Arial" pitchFamily="34" charset="0"/>
                <a:ea typeface="Arial" pitchFamily="34" charset="-122"/>
                <a:cs typeface="Arial" pitchFamily="34" charset="-120"/>
              </a:rPr>
              <a:t>WHO TO SELL</a:t>
            </a:r>
            <a:endParaRPr lang="en-US" sz="850" dirty="0"/>
          </a:p>
        </p:txBody>
      </p:sp>
      <p:sp>
        <p:nvSpPr>
          <p:cNvPr id="5" name="Shape 3"/>
          <p:cNvSpPr/>
          <p:nvPr/>
        </p:nvSpPr>
        <p:spPr>
          <a:xfrm>
            <a:off x="640080" y="1828800"/>
            <a:ext cx="3383280" cy="1417320"/>
          </a:xfrm>
          <a:prstGeom prst="roundRect">
            <a:avLst>
              <a:gd name="adj" fmla="val 3226"/>
            </a:avLst>
          </a:prstGeom>
          <a:solidFill>
            <a:srgbClr val="FFFFFF"/>
          </a:solidFill>
          <a:ln w="12700">
            <a:solidFill>
              <a:srgbClr val="D9E2EC"/>
            </a:solidFill>
            <a:prstDash val="solid"/>
          </a:ln>
        </p:spPr>
      </p:sp>
      <p:sp>
        <p:nvSpPr>
          <p:cNvPr id="6" name="Shape 4"/>
          <p:cNvSpPr/>
          <p:nvPr/>
        </p:nvSpPr>
        <p:spPr>
          <a:xfrm>
            <a:off x="640080" y="1828800"/>
            <a:ext cx="64008" cy="1417320"/>
          </a:xfrm>
          <a:prstGeom prst="rect">
            <a:avLst/>
          </a:prstGeom>
          <a:solidFill>
            <a:srgbClr val="1F4E78"/>
          </a:solidFill>
          <a:ln w="12700">
            <a:solidFill>
              <a:srgbClr val="1F4E78"/>
            </a:solidFill>
            <a:prstDash val="solid"/>
          </a:ln>
        </p:spPr>
      </p:sp>
      <p:sp>
        <p:nvSpPr>
          <p:cNvPr id="7" name="Text 5"/>
          <p:cNvSpPr/>
          <p:nvPr/>
        </p:nvSpPr>
        <p:spPr>
          <a:xfrm>
            <a:off x="841248" y="1993392"/>
            <a:ext cx="3035808" cy="292608"/>
          </a:xfrm>
          <a:prstGeom prst="rect">
            <a:avLst/>
          </a:prstGeom>
          <a:noFill/>
          <a:ln/>
        </p:spPr>
        <p:txBody>
          <a:bodyPr wrap="square" lIns="0" tIns="0" rIns="0" bIns="0" rtlCol="0" anchor="ctr"/>
          <a:lstStyle/>
          <a:p>
            <a:pPr indent="0" marL="0">
              <a:buNone/>
            </a:pPr>
            <a:r>
              <a:rPr lang="en-US" sz="1200" b="1" dirty="0">
                <a:solidFill>
                  <a:srgbClr val="17365D"/>
                </a:solidFill>
                <a:latin typeface="Arial" pitchFamily="34" charset="0"/>
                <a:ea typeface="Arial" pitchFamily="34" charset="-122"/>
                <a:cs typeface="Arial" pitchFamily="34" charset="-120"/>
              </a:rPr>
              <a:t>Phân khúc mục tiêu</a:t>
            </a:r>
            <a:endParaRPr lang="en-US" sz="1200" dirty="0"/>
          </a:p>
        </p:txBody>
      </p:sp>
      <p:sp>
        <p:nvSpPr>
          <p:cNvPr id="8" name="Text 6"/>
          <p:cNvSpPr/>
          <p:nvPr/>
        </p:nvSpPr>
        <p:spPr>
          <a:xfrm>
            <a:off x="841248" y="2359152"/>
            <a:ext cx="3035808" cy="758952"/>
          </a:xfrm>
          <a:prstGeom prst="rect">
            <a:avLst/>
          </a:prstGeom>
          <a:noFill/>
          <a:ln/>
        </p:spPr>
        <p:txBody>
          <a:bodyPr wrap="square" lIns="36576" tIns="18288" rIns="36576" bIns="18288" rtlCol="0" anchor="t"/>
          <a:lstStyle/>
          <a:p>
            <a:pPr algn="l">
              <a:lnSpc>
                <a:spcPct val="115000"/>
              </a:lnSpc>
              <a:spcBef>
                <a:spcPts val="0"/>
              </a:spcBef>
              <a:spcAft>
                <a:spcPts val="200"/>
              </a:spcAft>
            </a:pPr>
            <a:r>
              <a:rPr sz="950" b="0">
                <a:latin typeface="Arial"/>
              </a:rPr>
              <a:t>• Đô thị thông minh &amp; Giao thông đô thị (D003-03)</a:t>
            </a:r>
          </a:p>
          <a:p>
            <a:pPr algn="l">
              <a:lnSpc>
                <a:spcPct val="115000"/>
              </a:lnSpc>
              <a:spcBef>
                <a:spcPts val="0"/>
              </a:spcBef>
              <a:spcAft>
                <a:spcPts val="200"/>
              </a:spcAft>
            </a:pPr>
            <a:r>
              <a:rPr sz="950" b="0">
                <a:latin typeface="Arial"/>
              </a:rPr>
              <a:t>• Sở GTVT, Trung tâm QL Giao thông công cộng (MCPT/Tramoc)</a:t>
            </a:r>
          </a:p>
          <a:p>
            <a:pPr algn="l">
              <a:lnSpc>
                <a:spcPct val="115000"/>
              </a:lnSpc>
              <a:spcBef>
                <a:spcPts val="0"/>
              </a:spcBef>
              <a:spcAft>
                <a:spcPts val="200"/>
              </a:spcAft>
            </a:pPr>
            <a:r>
              <a:rPr sz="950" b="0">
                <a:latin typeface="Arial"/>
              </a:rPr>
              <a:t>• Doanh nghiệp khai thác xe buýt (Transerco, FUTA, VinBus)</a:t>
            </a:r>
          </a:p>
        </p:txBody>
      </p:sp>
      <p:sp>
        <p:nvSpPr>
          <p:cNvPr id="9" name="Shape 7"/>
          <p:cNvSpPr/>
          <p:nvPr/>
        </p:nvSpPr>
        <p:spPr>
          <a:xfrm>
            <a:off x="4343400" y="1828800"/>
            <a:ext cx="3383280" cy="1417320"/>
          </a:xfrm>
          <a:prstGeom prst="roundRect">
            <a:avLst>
              <a:gd name="adj" fmla="val 3226"/>
            </a:avLst>
          </a:prstGeom>
          <a:solidFill>
            <a:srgbClr val="FFFFFF"/>
          </a:solidFill>
          <a:ln w="12700">
            <a:solidFill>
              <a:srgbClr val="D9E2EC"/>
            </a:solidFill>
            <a:prstDash val="solid"/>
          </a:ln>
        </p:spPr>
      </p:sp>
      <p:sp>
        <p:nvSpPr>
          <p:cNvPr id="10" name="Shape 8"/>
          <p:cNvSpPr/>
          <p:nvPr/>
        </p:nvSpPr>
        <p:spPr>
          <a:xfrm>
            <a:off x="4343400" y="1828800"/>
            <a:ext cx="64008" cy="1417320"/>
          </a:xfrm>
          <a:prstGeom prst="rect">
            <a:avLst/>
          </a:prstGeom>
          <a:solidFill>
            <a:srgbClr val="1F4E78"/>
          </a:solidFill>
          <a:ln w="12700">
            <a:solidFill>
              <a:srgbClr val="1F4E78"/>
            </a:solidFill>
            <a:prstDash val="solid"/>
          </a:ln>
        </p:spPr>
      </p:sp>
      <p:sp>
        <p:nvSpPr>
          <p:cNvPr id="11" name="Text 9"/>
          <p:cNvSpPr/>
          <p:nvPr/>
        </p:nvSpPr>
        <p:spPr>
          <a:xfrm>
            <a:off x="4544568" y="1993392"/>
            <a:ext cx="3035808" cy="292608"/>
          </a:xfrm>
          <a:prstGeom prst="rect">
            <a:avLst/>
          </a:prstGeom>
          <a:noFill/>
          <a:ln/>
        </p:spPr>
        <p:txBody>
          <a:bodyPr wrap="square" lIns="0" tIns="0" rIns="0" bIns="0" rtlCol="0" anchor="ctr"/>
          <a:lstStyle/>
          <a:p>
            <a:pPr indent="0" marL="0">
              <a:buNone/>
            </a:pPr>
            <a:r>
              <a:rPr lang="en-US" sz="1200" b="1" dirty="0">
                <a:solidFill>
                  <a:srgbClr val="17365D"/>
                </a:solidFill>
                <a:latin typeface="Arial" pitchFamily="34" charset="0"/>
                <a:ea typeface="Arial" pitchFamily="34" charset="-122"/>
                <a:cs typeface="Arial" pitchFamily="34" charset="-120"/>
              </a:rPr>
              <a:t>Vai trò sử dụng</a:t>
            </a:r>
            <a:endParaRPr lang="en-US" sz="1200" dirty="0"/>
          </a:p>
        </p:txBody>
      </p:sp>
      <p:sp>
        <p:nvSpPr>
          <p:cNvPr id="12" name="Text 10"/>
          <p:cNvSpPr/>
          <p:nvPr/>
        </p:nvSpPr>
        <p:spPr>
          <a:xfrm>
            <a:off x="4544568" y="2359152"/>
            <a:ext cx="3035808" cy="758952"/>
          </a:xfrm>
          <a:prstGeom prst="rect">
            <a:avLst/>
          </a:prstGeom>
          <a:noFill/>
          <a:ln/>
        </p:spPr>
        <p:txBody>
          <a:bodyPr wrap="square" lIns="36576" tIns="18288" rIns="36576" bIns="18288" rtlCol="0" anchor="t"/>
          <a:lstStyle/>
          <a:p>
            <a:pPr algn="l">
              <a:lnSpc>
                <a:spcPct val="115000"/>
              </a:lnSpc>
              <a:spcBef>
                <a:spcPts val="0"/>
              </a:spcBef>
              <a:spcAft>
                <a:spcPts val="200"/>
              </a:spcAft>
            </a:pPr>
            <a:r>
              <a:rPr sz="950" b="0">
                <a:latin typeface="Arial"/>
              </a:rPr>
              <a:t>• User/Technical: Kỹ sư điều phối tuyến, Cán bộ quy hoạch hạ tầng vỉa hè</a:t>
            </a:r>
          </a:p>
          <a:p>
            <a:pPr algn="l">
              <a:lnSpc>
                <a:spcPct val="115000"/>
              </a:lnSpc>
              <a:spcBef>
                <a:spcPts val="0"/>
              </a:spcBef>
              <a:spcAft>
                <a:spcPts val="200"/>
              </a:spcAft>
            </a:pPr>
            <a:r>
              <a:rPr sz="950" b="0">
                <a:latin typeface="Arial"/>
              </a:rPr>
              <a:t>• Influencer: Chuyên gia vi khí hậu, Hội Người khuyết tật, Báo chí</a:t>
            </a:r>
          </a:p>
          <a:p>
            <a:pPr algn="l">
              <a:lnSpc>
                <a:spcPct val="115000"/>
              </a:lnSpc>
              <a:spcBef>
                <a:spcPts val="0"/>
              </a:spcBef>
              <a:spcAft>
                <a:spcPts val="200"/>
              </a:spcAft>
            </a:pPr>
            <a:r>
              <a:rPr sz="950" b="0">
                <a:latin typeface="Arial"/>
              </a:rPr>
              <a:t>• Approver: Giám đốc Sở GTVT, Lãnh đạo Trung tâm QL Giao thông</a:t>
            </a:r>
          </a:p>
        </p:txBody>
      </p:sp>
      <p:sp>
        <p:nvSpPr>
          <p:cNvPr id="13" name="Shape 11"/>
          <p:cNvSpPr/>
          <p:nvPr/>
        </p:nvSpPr>
        <p:spPr>
          <a:xfrm>
            <a:off x="8046720" y="1828800"/>
            <a:ext cx="3383280" cy="1417320"/>
          </a:xfrm>
          <a:prstGeom prst="roundRect">
            <a:avLst>
              <a:gd name="adj" fmla="val 3226"/>
            </a:avLst>
          </a:prstGeom>
          <a:solidFill>
            <a:srgbClr val="FFFFFF"/>
          </a:solidFill>
          <a:ln w="12700">
            <a:solidFill>
              <a:srgbClr val="D9E2EC"/>
            </a:solidFill>
            <a:prstDash val="solid"/>
          </a:ln>
        </p:spPr>
      </p:sp>
      <p:sp>
        <p:nvSpPr>
          <p:cNvPr id="14" name="Shape 12"/>
          <p:cNvSpPr/>
          <p:nvPr/>
        </p:nvSpPr>
        <p:spPr>
          <a:xfrm>
            <a:off x="8046720" y="1828800"/>
            <a:ext cx="64008" cy="1417320"/>
          </a:xfrm>
          <a:prstGeom prst="rect">
            <a:avLst/>
          </a:prstGeom>
          <a:solidFill>
            <a:srgbClr val="1F4E78"/>
          </a:solidFill>
          <a:ln w="12700">
            <a:solidFill>
              <a:srgbClr val="1F4E78"/>
            </a:solidFill>
            <a:prstDash val="solid"/>
          </a:ln>
        </p:spPr>
      </p:sp>
      <p:sp>
        <p:nvSpPr>
          <p:cNvPr id="15" name="Text 13"/>
          <p:cNvSpPr/>
          <p:nvPr/>
        </p:nvSpPr>
        <p:spPr>
          <a:xfrm>
            <a:off x="8247888" y="1993392"/>
            <a:ext cx="3035808" cy="292608"/>
          </a:xfrm>
          <a:prstGeom prst="rect">
            <a:avLst/>
          </a:prstGeom>
          <a:noFill/>
          <a:ln/>
        </p:spPr>
        <p:txBody>
          <a:bodyPr wrap="square" lIns="0" tIns="0" rIns="0" bIns="0" rtlCol="0" anchor="ctr"/>
          <a:lstStyle/>
          <a:p>
            <a:pPr indent="0" marL="0">
              <a:buNone/>
            </a:pPr>
            <a:r>
              <a:rPr lang="en-US" sz="1200" b="1" dirty="0">
                <a:solidFill>
                  <a:srgbClr val="17365D"/>
                </a:solidFill>
                <a:latin typeface="Arial" pitchFamily="34" charset="0"/>
                <a:ea typeface="Arial" pitchFamily="34" charset="-122"/>
                <a:cs typeface="Arial" pitchFamily="34" charset="-120"/>
              </a:rPr>
              <a:t>Beachhead Market</a:t>
            </a:r>
            <a:endParaRPr lang="en-US" sz="1200" dirty="0"/>
          </a:p>
        </p:txBody>
      </p:sp>
      <p:sp>
        <p:nvSpPr>
          <p:cNvPr id="16" name="Text 14"/>
          <p:cNvSpPr/>
          <p:nvPr/>
        </p:nvSpPr>
        <p:spPr>
          <a:xfrm>
            <a:off x="8247888" y="2359152"/>
            <a:ext cx="3035808" cy="758952"/>
          </a:xfrm>
          <a:prstGeom prst="rect">
            <a:avLst/>
          </a:prstGeom>
          <a:noFill/>
          <a:ln/>
        </p:spPr>
        <p:txBody>
          <a:bodyPr wrap="square" lIns="36576" tIns="18288" rIns="36576" bIns="18288" rtlCol="0" anchor="t"/>
          <a:lstStyle/>
          <a:p>
            <a:pPr algn="l">
              <a:lnSpc>
                <a:spcPct val="115000"/>
              </a:lnSpc>
              <a:spcBef>
                <a:spcPts val="0"/>
              </a:spcBef>
              <a:spcAft>
                <a:spcPts val="200"/>
              </a:spcAft>
            </a:pPr>
            <a:r>
              <a:rPr sz="950" b="0">
                <a:latin typeface="Arial"/>
              </a:rPr>
              <a:t>• Trung tâm QL Giao thông công cộng TP.HCM &amp; Hà Nội: Các trục đường xuyên tâm có mật độ cao nhưng &gt; 65% điểm đón thiếu bóng mát</a:t>
            </a:r>
          </a:p>
        </p:txBody>
      </p:sp>
      <p:sp>
        <p:nvSpPr>
          <p:cNvPr id="17" name="Shape 15"/>
          <p:cNvSpPr/>
          <p:nvPr/>
        </p:nvSpPr>
        <p:spPr>
          <a:xfrm>
            <a:off x="640080" y="3611880"/>
            <a:ext cx="10789920" cy="1463040"/>
          </a:xfrm>
          <a:prstGeom prst="roundRect">
            <a:avLst>
              <a:gd name="adj" fmla="val 3125"/>
            </a:avLst>
          </a:prstGeom>
          <a:solidFill>
            <a:srgbClr val="FFFFFF"/>
          </a:solidFill>
          <a:ln w="12700">
            <a:solidFill>
              <a:srgbClr val="D9E2EC"/>
            </a:solidFill>
            <a:prstDash val="solid"/>
          </a:ln>
        </p:spPr>
      </p:sp>
      <p:sp>
        <p:nvSpPr>
          <p:cNvPr id="18" name="Shape 16"/>
          <p:cNvSpPr/>
          <p:nvPr/>
        </p:nvSpPr>
        <p:spPr>
          <a:xfrm>
            <a:off x="640080" y="3611880"/>
            <a:ext cx="64008" cy="1463040"/>
          </a:xfrm>
          <a:prstGeom prst="rect">
            <a:avLst/>
          </a:prstGeom>
          <a:solidFill>
            <a:srgbClr val="1F4E78"/>
          </a:solidFill>
          <a:ln w="12700">
            <a:solidFill>
              <a:srgbClr val="1F4E78"/>
            </a:solidFill>
            <a:prstDash val="solid"/>
          </a:ln>
        </p:spPr>
      </p:sp>
      <p:sp>
        <p:nvSpPr>
          <p:cNvPr id="19" name="Text 17"/>
          <p:cNvSpPr/>
          <p:nvPr/>
        </p:nvSpPr>
        <p:spPr>
          <a:xfrm>
            <a:off x="841248" y="3776472"/>
            <a:ext cx="10300000" cy="292608"/>
          </a:xfrm>
          <a:prstGeom prst="rect">
            <a:avLst/>
          </a:prstGeom>
          <a:noFill/>
          <a:ln/>
        </p:spPr>
        <p:txBody>
          <a:bodyPr wrap="square" lIns="0" tIns="0" rIns="0" bIns="0" rtlCol="0" anchor="ctr"/>
          <a:lstStyle/>
          <a:p>
            <a:pPr indent="0" marL="0">
              <a:buNone/>
            </a:pPr>
            <a:r>
              <a:rPr lang="en-US" sz="1200" b="1" dirty="0">
                <a:solidFill>
                  <a:srgbClr val="17365D"/>
                </a:solidFill>
                <a:latin typeface="Arial" pitchFamily="34" charset="0"/>
                <a:ea typeface="Arial" pitchFamily="34" charset="-122"/>
                <a:cs typeface="Arial" pitchFamily="34" charset="-120"/>
              </a:rPr>
              <a:t>Hồ sơ khách hàng mục tiêu</a:t>
            </a:r>
            <a:endParaRPr lang="en-US" sz="1200" dirty="0"/>
          </a:p>
        </p:txBody>
      </p:sp>
      <p:sp>
        <p:nvSpPr>
          <p:cNvPr id="20" name="Text 18"/>
          <p:cNvSpPr/>
          <p:nvPr/>
        </p:nvSpPr>
        <p:spPr>
          <a:xfrm>
            <a:off x="841248" y="4142232"/>
            <a:ext cx="10300000" cy="804672"/>
          </a:xfrm>
          <a:prstGeom prst="rect">
            <a:avLst/>
          </a:prstGeom>
          <a:noFill/>
          <a:ln/>
        </p:spPr>
        <p:txBody>
          <a:bodyPr wrap="square" lIns="36576" tIns="18288" rIns="36576" bIns="18288" rtlCol="0" anchor="t"/>
          <a:lstStyle/>
          <a:p>
            <a:pPr algn="l">
              <a:lnSpc>
                <a:spcPct val="115000"/>
              </a:lnSpc>
              <a:spcBef>
                <a:spcPts val="0"/>
              </a:spcBef>
              <a:spcAft>
                <a:spcPts val="200"/>
              </a:spcAft>
            </a:pPr>
            <a:r>
              <a:rPr sz="950" b="0">
                <a:latin typeface="Arial"/>
              </a:rPr>
              <a:t>• Đang vận hành mạng lưới xe buýt nội đô chịu ảnh hưởng gay gắt bởi nắng nóng đô thị (UHI)</a:t>
            </a:r>
          </a:p>
          <a:p>
            <a:pPr algn="l">
              <a:lnSpc>
                <a:spcPct val="115000"/>
              </a:lnSpc>
              <a:spcBef>
                <a:spcPts val="0"/>
              </a:spcBef>
              <a:spcAft>
                <a:spcPts val="200"/>
              </a:spcAft>
            </a:pPr>
            <a:r>
              <a:rPr sz="950" b="0">
                <a:latin typeface="Arial"/>
              </a:rPr>
              <a:t>• Cần tối ưu hóa vị trí điểm dừng theo quy chuẩn TCVN 13592:2022 với chi phí tiết kiệm 95% so với xây mới nhà chờ</a:t>
            </a:r>
          </a:p>
          <a:p>
            <a:pPr algn="l">
              <a:lnSpc>
                <a:spcPct val="115000"/>
              </a:lnSpc>
              <a:spcBef>
                <a:spcPts val="0"/>
              </a:spcBef>
              <a:spcAft>
                <a:spcPts val="200"/>
              </a:spcAft>
            </a:pPr>
            <a:r>
              <a:rPr sz="950" b="0">
                <a:latin typeface="Arial"/>
              </a:rPr>
              <a:t>• Đang triển khai chuyển đổi số giao thông đô thị và ứng dụng bản đồ số WebGIS</a:t>
            </a:r>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indent="0" marL="0">
              <a:buNone/>
            </a:pPr>
            <a:r>
              <a:rPr lang="en-US" sz="2300" b="1" dirty="0">
                <a:solidFill>
                  <a:srgbClr val="17365D"/>
                </a:solidFill>
                <a:latin typeface="Arial" pitchFamily="34" charset="0"/>
                <a:ea typeface="Arial" pitchFamily="34" charset="-122"/>
                <a:cs typeface="Arial" pitchFamily="34" charset="-120"/>
              </a:rPr>
              <a:t>02. CUSTOMER PROBLEMS</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indent="0" marL="0">
              <a:buNone/>
            </a:pPr>
            <a:r>
              <a:rPr lang="en-US" sz="1050" dirty="0">
                <a:solidFill>
                  <a:srgbClr val="637083"/>
                </a:solidFill>
                <a:latin typeface="Arial" pitchFamily="34" charset="0"/>
                <a:ea typeface="Arial" pitchFamily="34" charset="-122"/>
                <a:cs typeface="Arial" pitchFamily="34" charset="-120"/>
              </a:rPr>
              <a:t>Khách hàng đang gặp vấn đề gì và tác động ra sao?</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algn="ctr" indent="0" marL="0">
              <a:buNone/>
            </a:pPr>
            <a:r>
              <a:rPr lang="en-US" sz="850" b="1" dirty="0">
                <a:solidFill>
                  <a:srgbClr val="1F4E78"/>
                </a:solidFill>
                <a:latin typeface="Arial" pitchFamily="34" charset="0"/>
                <a:ea typeface="Arial" pitchFamily="34" charset="-122"/>
                <a:cs typeface="Arial" pitchFamily="34" charset="-120"/>
              </a:rPr>
              <a:t>WHY BUY</a:t>
            </a:r>
            <a:endParaRPr lang="en-US" sz="850" dirty="0"/>
          </a:p>
        </p:txBody>
      </p:sp>
      <p:sp>
        <p:nvSpPr>
          <p:cNvPr id="5" name="Shape 3"/>
          <p:cNvSpPr/>
          <p:nvPr/>
        </p:nvSpPr>
        <p:spPr>
          <a:xfrm>
            <a:off x="685800" y="1783080"/>
            <a:ext cx="5166360" cy="1325880"/>
          </a:xfrm>
          <a:prstGeom prst="roundRect">
            <a:avLst>
              <a:gd name="adj" fmla="val 3448"/>
            </a:avLst>
          </a:prstGeom>
          <a:solidFill>
            <a:srgbClr val="FFFFFF"/>
          </a:solidFill>
          <a:ln w="12700">
            <a:solidFill>
              <a:srgbClr val="D9E2EC"/>
            </a:solidFill>
            <a:prstDash val="solid"/>
          </a:ln>
        </p:spPr>
      </p:sp>
      <p:sp>
        <p:nvSpPr>
          <p:cNvPr id="6" name="Shape 4"/>
          <p:cNvSpPr/>
          <p:nvPr/>
        </p:nvSpPr>
        <p:spPr>
          <a:xfrm>
            <a:off x="685800" y="1783080"/>
            <a:ext cx="64008" cy="1325880"/>
          </a:xfrm>
          <a:prstGeom prst="rect">
            <a:avLst/>
          </a:prstGeom>
          <a:solidFill>
            <a:srgbClr val="1F4E78"/>
          </a:solidFill>
          <a:ln w="12700">
            <a:solidFill>
              <a:srgbClr val="1F4E78"/>
            </a:solidFill>
            <a:prstDash val="solid"/>
          </a:ln>
        </p:spPr>
      </p:sp>
      <p:sp>
        <p:nvSpPr>
          <p:cNvPr id="7" name="Text 5"/>
          <p:cNvSpPr/>
          <p:nvPr/>
        </p:nvSpPr>
        <p:spPr>
          <a:xfrm>
            <a:off x="886968" y="1947672"/>
            <a:ext cx="4818888" cy="292608"/>
          </a:xfrm>
          <a:prstGeom prst="rect">
            <a:avLst/>
          </a:prstGeom>
          <a:noFill/>
          <a:ln/>
        </p:spPr>
        <p:txBody>
          <a:bodyPr wrap="square" lIns="36576" tIns="18288" rIns="36576" bIns="18288" rtlCol="0" anchor="ctr"/>
          <a:lstStyle/>
          <a:p>
            <a:pPr>
              <a:defRPr sz="1100" b="1">
                <a:latin typeface="Arial"/>
              </a:defRPr>
            </a:pPr>
            <a:r>
              <a:t>01. Hành Khách Say Nắng &amp; Sốc Nhiệt</a:t>
            </a:r>
          </a:p>
        </p:txBody>
      </p:sp>
      <p:sp>
        <p:nvSpPr>
          <p:cNvPr id="8" name="Text 6"/>
          <p:cNvSpPr/>
          <p:nvPr/>
        </p:nvSpPr>
        <p:spPr>
          <a:xfrm>
            <a:off x="886968" y="2313432"/>
            <a:ext cx="4818888" cy="667512"/>
          </a:xfrm>
          <a:prstGeom prst="rect">
            <a:avLst/>
          </a:prstGeom>
          <a:noFill/>
          <a:ln/>
        </p:spPr>
        <p:txBody>
          <a:bodyPr wrap="square" lIns="36576" tIns="18288" rIns="36576" bIns="18288" rtlCol="0" anchor="t"/>
          <a:lstStyle/>
          <a:p>
            <a:pPr algn="l">
              <a:lnSpc>
                <a:spcPct val="115000"/>
              </a:lnSpc>
              <a:spcBef>
                <a:spcPts val="0"/>
              </a:spcBef>
              <a:spcAft>
                <a:spcPts val="200"/>
              </a:spcAft>
            </a:pPr>
            <a:r>
              <a:rPr sz="950" b="0">
                <a:latin typeface="Arial"/>
              </a:rPr>
              <a:t>Hơn 65% điểm dừng trần không mái che; hành khách phơi nắng 38–42°C, mặt đường 52°C, UV 11.8 gây say nắng và sụt giảm người đi xe buýt.</a:t>
            </a:r>
          </a:p>
        </p:txBody>
      </p:sp>
      <p:sp>
        <p:nvSpPr>
          <p:cNvPr id="9" name="Shape 7"/>
          <p:cNvSpPr/>
          <p:nvPr/>
        </p:nvSpPr>
        <p:spPr>
          <a:xfrm>
            <a:off x="6217920" y="1783080"/>
            <a:ext cx="5166360" cy="1325880"/>
          </a:xfrm>
          <a:prstGeom prst="roundRect">
            <a:avLst>
              <a:gd name="adj" fmla="val 3448"/>
            </a:avLst>
          </a:prstGeom>
          <a:solidFill>
            <a:srgbClr val="FFFFFF"/>
          </a:solidFill>
          <a:ln w="12700">
            <a:solidFill>
              <a:srgbClr val="D9E2EC"/>
            </a:solidFill>
            <a:prstDash val="solid"/>
          </a:ln>
        </p:spPr>
      </p:sp>
      <p:sp>
        <p:nvSpPr>
          <p:cNvPr id="10" name="Shape 8"/>
          <p:cNvSpPr/>
          <p:nvPr/>
        </p:nvSpPr>
        <p:spPr>
          <a:xfrm>
            <a:off x="6217920" y="1783080"/>
            <a:ext cx="64008" cy="1325880"/>
          </a:xfrm>
          <a:prstGeom prst="rect">
            <a:avLst/>
          </a:prstGeom>
          <a:solidFill>
            <a:srgbClr val="1F4E78"/>
          </a:solidFill>
          <a:ln w="12700">
            <a:solidFill>
              <a:srgbClr val="1F4E78"/>
            </a:solidFill>
            <a:prstDash val="solid"/>
          </a:ln>
        </p:spPr>
      </p:sp>
      <p:sp>
        <p:nvSpPr>
          <p:cNvPr id="11" name="Text 9"/>
          <p:cNvSpPr/>
          <p:nvPr/>
        </p:nvSpPr>
        <p:spPr>
          <a:xfrm>
            <a:off x="6419088" y="1947672"/>
            <a:ext cx="4818888" cy="292608"/>
          </a:xfrm>
          <a:prstGeom prst="rect">
            <a:avLst/>
          </a:prstGeom>
          <a:noFill/>
          <a:ln/>
        </p:spPr>
        <p:txBody>
          <a:bodyPr wrap="square" lIns="36576" tIns="18288" rIns="36576" bIns="18288" rtlCol="0" anchor="ctr"/>
          <a:lstStyle/>
          <a:p>
            <a:pPr>
              <a:defRPr sz="1100" b="1">
                <a:latin typeface="Arial"/>
              </a:defRPr>
            </a:pPr>
            <a:r>
              <a:t>02. Xây Mới Nhà Chờ Tốn Kém Ngân Sách</a:t>
            </a:r>
          </a:p>
        </p:txBody>
      </p:sp>
      <p:sp>
        <p:nvSpPr>
          <p:cNvPr id="12" name="Text 10"/>
          <p:cNvSpPr/>
          <p:nvPr/>
        </p:nvSpPr>
        <p:spPr>
          <a:xfrm>
            <a:off x="6419088" y="2313432"/>
            <a:ext cx="4818888" cy="667512"/>
          </a:xfrm>
          <a:prstGeom prst="rect">
            <a:avLst/>
          </a:prstGeom>
          <a:noFill/>
          <a:ln/>
        </p:spPr>
        <p:txBody>
          <a:bodyPr wrap="square" lIns="36576" tIns="18288" rIns="36576" bIns="18288" rtlCol="0" anchor="t"/>
          <a:lstStyle/>
          <a:p>
            <a:pPr algn="l">
              <a:lnSpc>
                <a:spcPct val="115000"/>
              </a:lnSpc>
              <a:spcBef>
                <a:spcPts val="0"/>
              </a:spcBef>
              <a:spcAft>
                <a:spcPts val="200"/>
              </a:spcAft>
            </a:pPr>
            <a:r>
              <a:rPr sz="950" b="0">
                <a:latin typeface="Arial"/>
              </a:rPr>
              <a:t>Chi phí xây mới 80–120 triệu đồng/nhà chờ; vỉa hè hẹp (&lt; 2m) không đủ chuẩn lắp đặt, gây bế tắc trong cải thiện hạ tầng điểm đón.</a:t>
            </a:r>
          </a:p>
        </p:txBody>
      </p:sp>
      <p:sp>
        <p:nvSpPr>
          <p:cNvPr id="13" name="Shape 11"/>
          <p:cNvSpPr/>
          <p:nvPr/>
        </p:nvSpPr>
        <p:spPr>
          <a:xfrm>
            <a:off x="685800" y="3520440"/>
            <a:ext cx="5166360" cy="1325880"/>
          </a:xfrm>
          <a:prstGeom prst="roundRect">
            <a:avLst>
              <a:gd name="adj" fmla="val 3448"/>
            </a:avLst>
          </a:prstGeom>
          <a:solidFill>
            <a:srgbClr val="FFFFFF"/>
          </a:solidFill>
          <a:ln w="12700">
            <a:solidFill>
              <a:srgbClr val="D9E2EC"/>
            </a:solidFill>
            <a:prstDash val="solid"/>
          </a:ln>
        </p:spPr>
      </p:sp>
      <p:sp>
        <p:nvSpPr>
          <p:cNvPr id="14" name="Shape 12"/>
          <p:cNvSpPr/>
          <p:nvPr/>
        </p:nvSpPr>
        <p:spPr>
          <a:xfrm>
            <a:off x="685800" y="3520440"/>
            <a:ext cx="64008" cy="1325880"/>
          </a:xfrm>
          <a:prstGeom prst="rect">
            <a:avLst/>
          </a:prstGeom>
          <a:solidFill>
            <a:srgbClr val="C89B3C"/>
          </a:solidFill>
          <a:ln w="12700">
            <a:solidFill>
              <a:srgbClr val="C89B3C"/>
            </a:solidFill>
            <a:prstDash val="solid"/>
          </a:ln>
        </p:spPr>
      </p:sp>
      <p:sp>
        <p:nvSpPr>
          <p:cNvPr id="15" name="Text 13"/>
          <p:cNvSpPr/>
          <p:nvPr/>
        </p:nvSpPr>
        <p:spPr>
          <a:xfrm>
            <a:off x="886968" y="3685032"/>
            <a:ext cx="4818888" cy="292608"/>
          </a:xfrm>
          <a:prstGeom prst="rect">
            <a:avLst/>
          </a:prstGeom>
          <a:noFill/>
          <a:ln/>
        </p:spPr>
        <p:txBody>
          <a:bodyPr wrap="square" lIns="36576" tIns="18288" rIns="36576" bIns="18288" rtlCol="0" anchor="ctr"/>
          <a:lstStyle/>
          <a:p>
            <a:pPr>
              <a:defRPr sz="1100" b="1">
                <a:latin typeface="Arial"/>
              </a:defRPr>
            </a:pPr>
            <a:r>
              <a:t>03. Nắng Xiên Chiều Vô Hiệu Hóa Mái Che</a:t>
            </a:r>
          </a:p>
        </p:txBody>
      </p:sp>
      <p:sp>
        <p:nvSpPr>
          <p:cNvPr id="16" name="Text 14"/>
          <p:cNvSpPr/>
          <p:nvPr/>
        </p:nvSpPr>
        <p:spPr>
          <a:xfrm>
            <a:off x="886968" y="4050792"/>
            <a:ext cx="4818888" cy="667512"/>
          </a:xfrm>
          <a:prstGeom prst="rect">
            <a:avLst/>
          </a:prstGeom>
          <a:noFill/>
          <a:ln/>
        </p:spPr>
        <p:txBody>
          <a:bodyPr wrap="square" lIns="36576" tIns="18288" rIns="36576" bIns="18288" rtlCol="0" anchor="t"/>
          <a:lstStyle/>
          <a:p>
            <a:pPr algn="l">
              <a:lnSpc>
                <a:spcPct val="115000"/>
              </a:lnSpc>
              <a:spcBef>
                <a:spcPts val="0"/>
              </a:spcBef>
              <a:spcAft>
                <a:spcPts val="200"/>
              </a:spcAft>
            </a:pPr>
            <a:r>
              <a:rPr sz="950" b="0">
                <a:latin typeface="Arial"/>
              </a:rPr>
              <a:t>Vào giờ cao điểm sáng và chiều, nắng xiên góc thấp chiếu thẳng chỗ ngồi; người dân tràn xuống lòng đường tìm bóng râm, mất an toàn.</a:t>
            </a:r>
          </a:p>
        </p:txBody>
      </p:sp>
      <p:sp>
        <p:nvSpPr>
          <p:cNvPr id="17" name="Shape 15"/>
          <p:cNvSpPr/>
          <p:nvPr/>
        </p:nvSpPr>
        <p:spPr>
          <a:xfrm>
            <a:off x="6217920" y="3520440"/>
            <a:ext cx="5166360" cy="1325880"/>
          </a:xfrm>
          <a:prstGeom prst="roundRect">
            <a:avLst>
              <a:gd name="adj" fmla="val 3448"/>
            </a:avLst>
          </a:prstGeom>
          <a:solidFill>
            <a:srgbClr val="FFFFFF"/>
          </a:solidFill>
          <a:ln w="12700">
            <a:solidFill>
              <a:srgbClr val="D9E2EC"/>
            </a:solidFill>
            <a:prstDash val="solid"/>
          </a:ln>
        </p:spPr>
      </p:sp>
      <p:sp>
        <p:nvSpPr>
          <p:cNvPr id="18" name="Shape 16"/>
          <p:cNvSpPr/>
          <p:nvPr/>
        </p:nvSpPr>
        <p:spPr>
          <a:xfrm>
            <a:off x="6217920" y="3520440"/>
            <a:ext cx="64008" cy="1325880"/>
          </a:xfrm>
          <a:prstGeom prst="rect">
            <a:avLst/>
          </a:prstGeom>
          <a:solidFill>
            <a:srgbClr val="1F4E78"/>
          </a:solidFill>
          <a:ln w="12700">
            <a:solidFill>
              <a:srgbClr val="1F4E78"/>
            </a:solidFill>
            <a:prstDash val="solid"/>
          </a:ln>
        </p:spPr>
      </p:sp>
      <p:sp>
        <p:nvSpPr>
          <p:cNvPr id="19" name="Text 17"/>
          <p:cNvSpPr/>
          <p:nvPr/>
        </p:nvSpPr>
        <p:spPr>
          <a:xfrm>
            <a:off x="6419088" y="3685032"/>
            <a:ext cx="4818888" cy="292608"/>
          </a:xfrm>
          <a:prstGeom prst="rect">
            <a:avLst/>
          </a:prstGeom>
          <a:noFill/>
          <a:ln/>
        </p:spPr>
        <p:txBody>
          <a:bodyPr wrap="square" lIns="36576" tIns="18288" rIns="36576" bIns="18288" rtlCol="0" anchor="ctr"/>
          <a:lstStyle/>
          <a:p>
            <a:pPr>
              <a:defRPr sz="1100" b="1">
                <a:latin typeface="Arial"/>
              </a:defRPr>
            </a:pPr>
            <a:r>
              <a:t>04. Thiếu Công Cụ 3D Định Lượng Bóng Râm</a:t>
            </a:r>
          </a:p>
        </p:txBody>
      </p:sp>
      <p:sp>
        <p:nvSpPr>
          <p:cNvPr id="20" name="Text 18"/>
          <p:cNvSpPr/>
          <p:nvPr/>
        </p:nvSpPr>
        <p:spPr>
          <a:xfrm>
            <a:off x="6419088" y="4050792"/>
            <a:ext cx="4818888" cy="667512"/>
          </a:xfrm>
          <a:prstGeom prst="rect">
            <a:avLst/>
          </a:prstGeom>
          <a:noFill/>
          <a:ln/>
        </p:spPr>
        <p:txBody>
          <a:bodyPr wrap="square" lIns="36576" tIns="18288" rIns="36576" bIns="18288" rtlCol="0" anchor="t"/>
          <a:lstStyle/>
          <a:p>
            <a:pPr algn="l">
              <a:lnSpc>
                <a:spcPct val="115000"/>
              </a:lnSpc>
              <a:spcBef>
                <a:spcPts val="0"/>
              </a:spcBef>
              <a:spcAft>
                <a:spcPts val="200"/>
              </a:spcAft>
            </a:pPr>
            <a:r>
              <a:rPr sz="950" b="0">
                <a:latin typeface="Arial"/>
              </a:rPr>
              <a:t>Cơ quan quản lý thiếu dữ liệu 3D số hóa tán cây; định vị trạm buýt theo cảm tính hoặc cơ học 300–500m mà bỏ qua vi khí hậu.</a:t>
            </a:r>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indent="0" marL="0">
              <a:buNone/>
            </a:pPr>
            <a:r>
              <a:rPr lang="en-US" sz="2300" b="1" dirty="0">
                <a:solidFill>
                  <a:srgbClr val="17365D"/>
                </a:solidFill>
                <a:latin typeface="Arial" pitchFamily="34" charset="0"/>
                <a:ea typeface="Arial" pitchFamily="34" charset="-122"/>
                <a:cs typeface="Arial" pitchFamily="34" charset="-120"/>
              </a:rPr>
              <a:t>03. VALUE PROPOSITION</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indent="0" marL="0">
              <a:buNone/>
            </a:pPr>
            <a:r>
              <a:rPr lang="en-US" sz="1050" dirty="0">
                <a:solidFill>
                  <a:srgbClr val="637083"/>
                </a:solidFill>
                <a:latin typeface="Arial" pitchFamily="34" charset="0"/>
                <a:ea typeface="Arial" pitchFamily="34" charset="-122"/>
                <a:cs typeface="Arial" pitchFamily="34" charset="-120"/>
              </a:rPr>
              <a:t>GASCOLAE tạo ra giá trị gì để giải quyết các vấn đề trên?</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algn="ctr" indent="0" marL="0">
              <a:buNone/>
            </a:pPr>
            <a:r>
              <a:rPr lang="en-US" sz="850" b="1" dirty="0">
                <a:solidFill>
                  <a:srgbClr val="1F4E78"/>
                </a:solidFill>
                <a:latin typeface="Arial" pitchFamily="34" charset="0"/>
                <a:ea typeface="Arial" pitchFamily="34" charset="-122"/>
                <a:cs typeface="Arial" pitchFamily="34" charset="-120"/>
              </a:rPr>
              <a:t>PROBLEM → VALUE</a:t>
            </a:r>
            <a:endParaRPr lang="en-US" sz="850" dirty="0"/>
          </a:p>
        </p:txBody>
      </p:sp>
      <p:sp>
        <p:nvSpPr>
          <p:cNvPr id="5" name="Shape 3"/>
          <p:cNvSpPr/>
          <p:nvPr/>
        </p:nvSpPr>
        <p:spPr>
          <a:xfrm>
            <a:off x="685800" y="1783080"/>
            <a:ext cx="3337560" cy="3520440"/>
          </a:xfrm>
          <a:prstGeom prst="roundRect">
            <a:avLst>
              <a:gd name="adj" fmla="val 1370"/>
            </a:avLst>
          </a:prstGeom>
          <a:solidFill>
            <a:srgbClr val="FFFFFF"/>
          </a:solidFill>
          <a:ln w="12700">
            <a:solidFill>
              <a:srgbClr val="D9E2EC"/>
            </a:solidFill>
            <a:prstDash val="solid"/>
          </a:ln>
        </p:spPr>
      </p:sp>
      <p:sp>
        <p:nvSpPr>
          <p:cNvPr id="6" name="Shape 4"/>
          <p:cNvSpPr/>
          <p:nvPr/>
        </p:nvSpPr>
        <p:spPr>
          <a:xfrm>
            <a:off x="685800" y="1783080"/>
            <a:ext cx="64008" cy="3520440"/>
          </a:xfrm>
          <a:prstGeom prst="rect">
            <a:avLst/>
          </a:prstGeom>
          <a:solidFill>
            <a:srgbClr val="1F4E78"/>
          </a:solidFill>
          <a:ln w="12700">
            <a:solidFill>
              <a:srgbClr val="1F4E78"/>
            </a:solidFill>
            <a:prstDash val="solid"/>
          </a:ln>
        </p:spPr>
      </p:sp>
      <p:sp>
        <p:nvSpPr>
          <p:cNvPr id="7" name="Text 5"/>
          <p:cNvSpPr/>
          <p:nvPr/>
        </p:nvSpPr>
        <p:spPr>
          <a:xfrm>
            <a:off x="886968" y="1947672"/>
            <a:ext cx="2990088" cy="292608"/>
          </a:xfrm>
          <a:prstGeom prst="rect">
            <a:avLst/>
          </a:prstGeom>
          <a:noFill/>
          <a:ln/>
        </p:spPr>
        <p:txBody>
          <a:bodyPr wrap="square" lIns="36576" tIns="18288" rIns="36576" bIns="18288" rtlCol="0" anchor="ctr"/>
          <a:lstStyle/>
          <a:p>
            <a:pPr>
              <a:defRPr sz="1100" b="1">
                <a:latin typeface="Arial"/>
              </a:defRPr>
            </a:pPr>
            <a:r>
              <a:t>GIÁ TRỊ 1: HẠ 8–15°C NHIỆT ĐỘ CẢM NHẬN (UTCI)</a:t>
            </a:r>
          </a:p>
        </p:txBody>
      </p:sp>
      <p:sp>
        <p:nvSpPr>
          <p:cNvPr id="8" name="Text 6"/>
          <p:cNvSpPr/>
          <p:nvPr/>
        </p:nvSpPr>
        <p:spPr>
          <a:xfrm>
            <a:off x="886968" y="2313432"/>
            <a:ext cx="2990088" cy="2862072"/>
          </a:xfrm>
          <a:prstGeom prst="rect">
            <a:avLst/>
          </a:prstGeom>
          <a:noFill/>
          <a:ln/>
        </p:spPr>
        <p:txBody>
          <a:bodyPr wrap="square" lIns="36576" tIns="18288" rIns="36576" bIns="18288" rtlCol="0" anchor="t"/>
          <a:lstStyle/>
          <a:p>
            <a:pPr algn="l">
              <a:lnSpc>
                <a:spcPct val="115000"/>
              </a:lnSpc>
              <a:spcBef>
                <a:spcPts val="0"/>
              </a:spcBef>
              <a:spcAft>
                <a:spcPts val="200"/>
              </a:spcAft>
            </a:pPr>
            <a:r>
              <a:rPr sz="1000" b="0">
                <a:latin typeface="Arial"/>
              </a:rPr>
              <a:t>Dời điểm dừng vào bóng cây xanh tự nhiên giúp hạ nhiệt độ bề mặt vỉa hè từ 52°C xuống 34°C, đưa UTCI về mức dễ chịu, triệt tiêu sốc nhiệt.</a:t>
            </a:r>
          </a:p>
        </p:txBody>
      </p:sp>
      <p:sp>
        <p:nvSpPr>
          <p:cNvPr id="9" name="Shape 7"/>
          <p:cNvSpPr/>
          <p:nvPr/>
        </p:nvSpPr>
        <p:spPr>
          <a:xfrm>
            <a:off x="4434840" y="1783080"/>
            <a:ext cx="3337560" cy="3520440"/>
          </a:xfrm>
          <a:prstGeom prst="roundRect">
            <a:avLst>
              <a:gd name="adj" fmla="val 1370"/>
            </a:avLst>
          </a:prstGeom>
          <a:solidFill>
            <a:srgbClr val="FFFFFF"/>
          </a:solidFill>
          <a:ln w="12700">
            <a:solidFill>
              <a:srgbClr val="D9E2EC"/>
            </a:solidFill>
            <a:prstDash val="solid"/>
          </a:ln>
        </p:spPr>
      </p:sp>
      <p:sp>
        <p:nvSpPr>
          <p:cNvPr id="10" name="Shape 8"/>
          <p:cNvSpPr/>
          <p:nvPr/>
        </p:nvSpPr>
        <p:spPr>
          <a:xfrm>
            <a:off x="4434840" y="1783080"/>
            <a:ext cx="64008" cy="3520440"/>
          </a:xfrm>
          <a:prstGeom prst="rect">
            <a:avLst/>
          </a:prstGeom>
          <a:solidFill>
            <a:srgbClr val="1F4E78"/>
          </a:solidFill>
          <a:ln w="12700">
            <a:solidFill>
              <a:srgbClr val="1F4E78"/>
            </a:solidFill>
            <a:prstDash val="solid"/>
          </a:ln>
        </p:spPr>
      </p:sp>
      <p:sp>
        <p:nvSpPr>
          <p:cNvPr id="11" name="Text 9"/>
          <p:cNvSpPr/>
          <p:nvPr/>
        </p:nvSpPr>
        <p:spPr>
          <a:xfrm>
            <a:off x="4636008" y="1947672"/>
            <a:ext cx="2990088" cy="292608"/>
          </a:xfrm>
          <a:prstGeom prst="rect">
            <a:avLst/>
          </a:prstGeom>
          <a:noFill/>
          <a:ln/>
        </p:spPr>
        <p:txBody>
          <a:bodyPr wrap="square" lIns="36576" tIns="18288" rIns="36576" bIns="18288" rtlCol="0" anchor="ctr"/>
          <a:lstStyle/>
          <a:p>
            <a:pPr>
              <a:defRPr sz="1100" b="1">
                <a:latin typeface="Arial"/>
              </a:defRPr>
            </a:pPr>
            <a:r>
              <a:t>GIÁ TRỊ 2: TIẾT KIỆM 90–95% CHI PHÍ ĐẦU TƯ</a:t>
            </a:r>
          </a:p>
        </p:txBody>
      </p:sp>
      <p:sp>
        <p:nvSpPr>
          <p:cNvPr id="12" name="Text 10"/>
          <p:cNvSpPr/>
          <p:nvPr/>
        </p:nvSpPr>
        <p:spPr>
          <a:xfrm>
            <a:off x="4636008" y="2313432"/>
            <a:ext cx="2990088" cy="2862072"/>
          </a:xfrm>
          <a:prstGeom prst="rect">
            <a:avLst/>
          </a:prstGeom>
          <a:noFill/>
          <a:ln/>
        </p:spPr>
        <p:txBody>
          <a:bodyPr wrap="square" lIns="36576" tIns="18288" rIns="36576" bIns="18288" rtlCol="0" anchor="t"/>
          <a:lstStyle/>
          <a:p>
            <a:pPr algn="l">
              <a:lnSpc>
                <a:spcPct val="115000"/>
              </a:lnSpc>
              <a:spcBef>
                <a:spcPts val="0"/>
              </a:spcBef>
              <a:spcAft>
                <a:spcPts val="200"/>
              </a:spcAft>
            </a:pPr>
            <a:r>
              <a:rPr sz="1000" b="0">
                <a:latin typeface="Arial"/>
              </a:rPr>
              <a:t>Chi phí khảo sát và di dời cột dừng chỉ 3–5 triệu đồng/trạm, thay vì chi 80–120 triệu đồng xây mới; tận dụng tối đa bóng râm sinh thái sẵn có.</a:t>
            </a:r>
          </a:p>
        </p:txBody>
      </p:sp>
      <p:sp>
        <p:nvSpPr>
          <p:cNvPr id="13" name="Shape 11"/>
          <p:cNvSpPr/>
          <p:nvPr/>
        </p:nvSpPr>
        <p:spPr>
          <a:xfrm>
            <a:off x="8183880" y="1783080"/>
            <a:ext cx="3337560" cy="3520440"/>
          </a:xfrm>
          <a:prstGeom prst="roundRect">
            <a:avLst>
              <a:gd name="adj" fmla="val 1370"/>
            </a:avLst>
          </a:prstGeom>
          <a:solidFill>
            <a:srgbClr val="FFFFFF"/>
          </a:solidFill>
          <a:ln w="12700">
            <a:solidFill>
              <a:srgbClr val="D9E2EC"/>
            </a:solidFill>
            <a:prstDash val="solid"/>
          </a:ln>
        </p:spPr>
      </p:sp>
      <p:sp>
        <p:nvSpPr>
          <p:cNvPr id="14" name="Shape 12"/>
          <p:cNvSpPr/>
          <p:nvPr/>
        </p:nvSpPr>
        <p:spPr>
          <a:xfrm>
            <a:off x="8183880" y="1783080"/>
            <a:ext cx="64008" cy="3520440"/>
          </a:xfrm>
          <a:prstGeom prst="rect">
            <a:avLst/>
          </a:prstGeom>
          <a:solidFill>
            <a:srgbClr val="1F4E78"/>
          </a:solidFill>
          <a:ln w="12700">
            <a:solidFill>
              <a:srgbClr val="1F4E78"/>
            </a:solidFill>
            <a:prstDash val="solid"/>
          </a:ln>
        </p:spPr>
      </p:sp>
      <p:sp>
        <p:nvSpPr>
          <p:cNvPr id="15" name="Text 13"/>
          <p:cNvSpPr/>
          <p:nvPr/>
        </p:nvSpPr>
        <p:spPr>
          <a:xfrm>
            <a:off x="8385048" y="1947672"/>
            <a:ext cx="2990088" cy="292608"/>
          </a:xfrm>
          <a:prstGeom prst="rect">
            <a:avLst/>
          </a:prstGeom>
          <a:noFill/>
          <a:ln/>
        </p:spPr>
        <p:txBody>
          <a:bodyPr wrap="square" lIns="36576" tIns="18288" rIns="36576" bIns="18288" rtlCol="0" anchor="ctr"/>
          <a:lstStyle/>
          <a:p>
            <a:pPr>
              <a:defRPr sz="1100" b="1">
                <a:latin typeface="Arial"/>
              </a:defRPr>
            </a:pPr>
            <a:r>
              <a:t>GIÁ TRỊ 3: ĐỊNH LƯỢNG BÓNG RÂM 365 NGÀY THEO GIỜ</a:t>
            </a:r>
          </a:p>
        </p:txBody>
      </p:sp>
      <p:sp>
        <p:nvSpPr>
          <p:cNvPr id="16" name="Text 14"/>
          <p:cNvSpPr/>
          <p:nvPr/>
        </p:nvSpPr>
        <p:spPr>
          <a:xfrm>
            <a:off x="8385048" y="2313432"/>
            <a:ext cx="2990088" cy="2862072"/>
          </a:xfrm>
          <a:prstGeom prst="rect">
            <a:avLst/>
          </a:prstGeom>
          <a:noFill/>
          <a:ln/>
        </p:spPr>
        <p:txBody>
          <a:bodyPr wrap="square" lIns="36576" tIns="18288" rIns="36576" bIns="18288" rtlCol="0" anchor="t"/>
          <a:lstStyle/>
          <a:p>
            <a:pPr algn="l">
              <a:lnSpc>
                <a:spcPct val="115000"/>
              </a:lnSpc>
              <a:spcBef>
                <a:spcPts val="0"/>
              </a:spcBef>
              <a:spcAft>
                <a:spcPts val="200"/>
              </a:spcAft>
            </a:pPr>
            <a:r>
              <a:rPr sz="1000" b="0">
                <a:latin typeface="Arial"/>
              </a:rPr>
              <a:t>Dựng mô hình số bề mặt DSM/DTM (sai số &lt; 5cm) và mô phỏng Ladybug/ArcGIS chính xác hướng đổ bóng và số giờ râm mát trong giờ cao điểm.</a:t>
            </a:r>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indent="0" marL="0">
              <a:buNone/>
            </a:pPr>
            <a:r>
              <a:rPr lang="en-US" sz="2300" b="1" dirty="0">
                <a:solidFill>
                  <a:srgbClr val="17365D"/>
                </a:solidFill>
                <a:latin typeface="Arial" pitchFamily="34" charset="0"/>
                <a:ea typeface="Arial" pitchFamily="34" charset="-122"/>
                <a:cs typeface="Arial" pitchFamily="34" charset="-120"/>
              </a:rPr>
              <a:t>04. SOLUTION &amp; KEY CAPABILITIES</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indent="0" marL="0">
              <a:buNone/>
            </a:pPr>
            <a:r>
              <a:rPr lang="en-US" sz="1050" dirty="0">
                <a:solidFill>
                  <a:srgbClr val="637083"/>
                </a:solidFill>
                <a:latin typeface="Arial" pitchFamily="34" charset="0"/>
                <a:ea typeface="Arial" pitchFamily="34" charset="-122"/>
                <a:cs typeface="Arial" pitchFamily="34" charset="-120"/>
              </a:rPr>
              <a:t>Giải pháp gồm những thành phần/năng lực gì?</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algn="ctr" indent="0" marL="0">
              <a:buNone/>
            </a:pPr>
            <a:r>
              <a:rPr lang="en-US" sz="850" b="1" dirty="0">
                <a:solidFill>
                  <a:srgbClr val="1F4E78"/>
                </a:solidFill>
                <a:latin typeface="Arial" pitchFamily="34" charset="0"/>
                <a:ea typeface="Arial" pitchFamily="34" charset="-122"/>
                <a:cs typeface="Arial" pitchFamily="34" charset="-120"/>
              </a:rPr>
              <a:t>WHAT WE OFFER</a:t>
            </a:r>
            <a:endParaRPr lang="en-US" sz="850" dirty="0"/>
          </a:p>
        </p:txBody>
      </p:sp>
      <p:sp>
        <p:nvSpPr>
          <p:cNvPr id="5" name="Shape 3"/>
          <p:cNvSpPr/>
          <p:nvPr/>
        </p:nvSpPr>
        <p:spPr>
          <a:xfrm>
            <a:off x="658368" y="1755648"/>
            <a:ext cx="3429000" cy="1417320"/>
          </a:xfrm>
          <a:prstGeom prst="roundRect">
            <a:avLst>
              <a:gd name="adj" fmla="val 3226"/>
            </a:avLst>
          </a:prstGeom>
          <a:solidFill>
            <a:srgbClr val="FFFFFF"/>
          </a:solidFill>
          <a:ln w="12700">
            <a:solidFill>
              <a:srgbClr val="D9E2EC"/>
            </a:solidFill>
            <a:prstDash val="solid"/>
          </a:ln>
        </p:spPr>
      </p:sp>
      <p:sp>
        <p:nvSpPr>
          <p:cNvPr id="6" name="Shape 4"/>
          <p:cNvSpPr/>
          <p:nvPr/>
        </p:nvSpPr>
        <p:spPr>
          <a:xfrm>
            <a:off x="658368" y="1755648"/>
            <a:ext cx="64008" cy="1417320"/>
          </a:xfrm>
          <a:prstGeom prst="rect">
            <a:avLst/>
          </a:prstGeom>
          <a:solidFill>
            <a:srgbClr val="1F4E78"/>
          </a:solidFill>
          <a:ln w="12700">
            <a:solidFill>
              <a:srgbClr val="1F4E78"/>
            </a:solidFill>
            <a:prstDash val="solid"/>
          </a:ln>
        </p:spPr>
      </p:sp>
      <p:sp>
        <p:nvSpPr>
          <p:cNvPr id="7" name="Text 5"/>
          <p:cNvSpPr/>
          <p:nvPr/>
        </p:nvSpPr>
        <p:spPr>
          <a:xfrm>
            <a:off x="859536" y="1920240"/>
            <a:ext cx="3081528" cy="292608"/>
          </a:xfrm>
          <a:prstGeom prst="rect">
            <a:avLst/>
          </a:prstGeom>
          <a:noFill/>
          <a:ln/>
        </p:spPr>
        <p:txBody>
          <a:bodyPr wrap="square" lIns="36576" tIns="18288" rIns="36576" bIns="18288" rtlCol="0" anchor="ctr"/>
          <a:lstStyle/>
          <a:p>
            <a:pPr>
              <a:defRPr sz="1050" b="1">
                <a:latin typeface="Arial"/>
              </a:defRPr>
            </a:pPr>
            <a:r>
              <a:t>Khảo Sát Không Ảnh 3D GSD &lt; 1.5cm</a:t>
            </a:r>
          </a:p>
        </p:txBody>
      </p:sp>
      <p:sp>
        <p:nvSpPr>
          <p:cNvPr id="8" name="Text 6"/>
          <p:cNvSpPr/>
          <p:nvPr/>
        </p:nvSpPr>
        <p:spPr>
          <a:xfrm>
            <a:off x="859536" y="2286000"/>
            <a:ext cx="3081528" cy="75895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UAV Matrice 350 RTK gắn Zenmuse P1 45MP bay chụp lập thể hành lang tuyến, tái tạo mô hình 3D Mesh và DSM/DTM chuẩn xác.</a:t>
            </a:r>
          </a:p>
        </p:txBody>
      </p:sp>
      <p:sp>
        <p:nvSpPr>
          <p:cNvPr id="9" name="Shape 7"/>
          <p:cNvSpPr/>
          <p:nvPr/>
        </p:nvSpPr>
        <p:spPr>
          <a:xfrm>
            <a:off x="4425696" y="1755648"/>
            <a:ext cx="3429000" cy="1417320"/>
          </a:xfrm>
          <a:prstGeom prst="roundRect">
            <a:avLst>
              <a:gd name="adj" fmla="val 3226"/>
            </a:avLst>
          </a:prstGeom>
          <a:solidFill>
            <a:srgbClr val="FFFFFF"/>
          </a:solidFill>
          <a:ln w="12700">
            <a:solidFill>
              <a:srgbClr val="D9E2EC"/>
            </a:solidFill>
            <a:prstDash val="solid"/>
          </a:ln>
        </p:spPr>
      </p:sp>
      <p:sp>
        <p:nvSpPr>
          <p:cNvPr id="10" name="Shape 8"/>
          <p:cNvSpPr/>
          <p:nvPr/>
        </p:nvSpPr>
        <p:spPr>
          <a:xfrm>
            <a:off x="4425696" y="1755648"/>
            <a:ext cx="64008" cy="1417320"/>
          </a:xfrm>
          <a:prstGeom prst="rect">
            <a:avLst/>
          </a:prstGeom>
          <a:solidFill>
            <a:srgbClr val="1F4E78"/>
          </a:solidFill>
          <a:ln w="12700">
            <a:solidFill>
              <a:srgbClr val="1F4E78"/>
            </a:solidFill>
            <a:prstDash val="solid"/>
          </a:ln>
        </p:spPr>
      </p:sp>
      <p:sp>
        <p:nvSpPr>
          <p:cNvPr id="11" name="Text 9"/>
          <p:cNvSpPr/>
          <p:nvPr/>
        </p:nvSpPr>
        <p:spPr>
          <a:xfrm>
            <a:off x="4626864" y="1920240"/>
            <a:ext cx="3081528" cy="292608"/>
          </a:xfrm>
          <a:prstGeom prst="rect">
            <a:avLst/>
          </a:prstGeom>
          <a:noFill/>
          <a:ln/>
        </p:spPr>
        <p:txBody>
          <a:bodyPr wrap="square" lIns="36576" tIns="18288" rIns="36576" bIns="18288" rtlCol="0" anchor="ctr"/>
          <a:lstStyle/>
          <a:p>
            <a:pPr>
              <a:defRPr sz="1050" b="1">
                <a:latin typeface="Arial"/>
              </a:defRPr>
            </a:pPr>
            <a:r>
              <a:t>Đo Nhiệt Hồng Ngoại Radiometric</a:t>
            </a:r>
          </a:p>
        </p:txBody>
      </p:sp>
      <p:sp>
        <p:nvSpPr>
          <p:cNvPr id="12" name="Text 10"/>
          <p:cNvSpPr/>
          <p:nvPr/>
        </p:nvSpPr>
        <p:spPr>
          <a:xfrm>
            <a:off x="4626864" y="2286000"/>
            <a:ext cx="3081528" cy="75895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UAV Mavic 3 Thermal (M3T) đo đạc trực tiếp trường nhiệt độ bề mặt hè phố và nhà chờ trong giờ nắng gắt cực đại (11h30–13h30).</a:t>
            </a:r>
          </a:p>
        </p:txBody>
      </p:sp>
      <p:sp>
        <p:nvSpPr>
          <p:cNvPr id="13" name="Shape 11"/>
          <p:cNvSpPr/>
          <p:nvPr/>
        </p:nvSpPr>
        <p:spPr>
          <a:xfrm>
            <a:off x="8193024" y="1755648"/>
            <a:ext cx="3429000" cy="1417320"/>
          </a:xfrm>
          <a:prstGeom prst="roundRect">
            <a:avLst>
              <a:gd name="adj" fmla="val 3226"/>
            </a:avLst>
          </a:prstGeom>
          <a:solidFill>
            <a:srgbClr val="FFFFFF"/>
          </a:solidFill>
          <a:ln w="12700">
            <a:solidFill>
              <a:srgbClr val="D9E2EC"/>
            </a:solidFill>
            <a:prstDash val="solid"/>
          </a:ln>
        </p:spPr>
      </p:sp>
      <p:sp>
        <p:nvSpPr>
          <p:cNvPr id="14" name="Shape 12"/>
          <p:cNvSpPr/>
          <p:nvPr/>
        </p:nvSpPr>
        <p:spPr>
          <a:xfrm>
            <a:off x="8193024" y="1755648"/>
            <a:ext cx="64008" cy="1417320"/>
          </a:xfrm>
          <a:prstGeom prst="rect">
            <a:avLst/>
          </a:prstGeom>
          <a:solidFill>
            <a:srgbClr val="C89B3C"/>
          </a:solidFill>
          <a:ln w="12700">
            <a:solidFill>
              <a:srgbClr val="C89B3C"/>
            </a:solidFill>
            <a:prstDash val="solid"/>
          </a:ln>
        </p:spPr>
      </p:sp>
      <p:sp>
        <p:nvSpPr>
          <p:cNvPr id="15" name="Text 13"/>
          <p:cNvSpPr/>
          <p:nvPr/>
        </p:nvSpPr>
        <p:spPr>
          <a:xfrm>
            <a:off x="8394192" y="1920240"/>
            <a:ext cx="3081528" cy="292608"/>
          </a:xfrm>
          <a:prstGeom prst="rect">
            <a:avLst/>
          </a:prstGeom>
          <a:noFill/>
          <a:ln/>
        </p:spPr>
        <p:txBody>
          <a:bodyPr wrap="square" lIns="36576" tIns="18288" rIns="36576" bIns="18288" rtlCol="0" anchor="ctr"/>
          <a:lstStyle/>
          <a:p>
            <a:pPr>
              <a:defRPr sz="1050" b="1">
                <a:latin typeface="Arial"/>
              </a:defRPr>
            </a:pPr>
            <a:r>
              <a:t>Bóc Tách Tán Cây &amp; Mô Hình CHM</a:t>
            </a:r>
          </a:p>
        </p:txBody>
      </p:sp>
      <p:sp>
        <p:nvSpPr>
          <p:cNvPr id="16" name="Text 14"/>
          <p:cNvSpPr/>
          <p:nvPr/>
        </p:nvSpPr>
        <p:spPr>
          <a:xfrm>
            <a:off x="8394192" y="2286000"/>
            <a:ext cx="3081528" cy="75895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Thuật toán trích xuất mô hình chiều cao tán cây CHM và mật độ lá phục vụ mô phỏng độ truyền quang tán lá và độ che phủ vòm trời (SVF).</a:t>
            </a:r>
          </a:p>
        </p:txBody>
      </p:sp>
      <p:sp>
        <p:nvSpPr>
          <p:cNvPr id="17" name="Shape 15"/>
          <p:cNvSpPr/>
          <p:nvPr/>
        </p:nvSpPr>
        <p:spPr>
          <a:xfrm>
            <a:off x="658368" y="3584448"/>
            <a:ext cx="3429000" cy="1417320"/>
          </a:xfrm>
          <a:prstGeom prst="roundRect">
            <a:avLst>
              <a:gd name="adj" fmla="val 3226"/>
            </a:avLst>
          </a:prstGeom>
          <a:solidFill>
            <a:srgbClr val="FFFFFF"/>
          </a:solidFill>
          <a:ln w="12700">
            <a:solidFill>
              <a:srgbClr val="D9E2EC"/>
            </a:solidFill>
            <a:prstDash val="solid"/>
          </a:ln>
        </p:spPr>
      </p:sp>
      <p:sp>
        <p:nvSpPr>
          <p:cNvPr id="18" name="Shape 16"/>
          <p:cNvSpPr/>
          <p:nvPr/>
        </p:nvSpPr>
        <p:spPr>
          <a:xfrm>
            <a:off x="658368" y="3584448"/>
            <a:ext cx="64008" cy="1417320"/>
          </a:xfrm>
          <a:prstGeom prst="rect">
            <a:avLst/>
          </a:prstGeom>
          <a:solidFill>
            <a:srgbClr val="1F4E78"/>
          </a:solidFill>
          <a:ln w="12700">
            <a:solidFill>
              <a:srgbClr val="1F4E78"/>
            </a:solidFill>
            <a:prstDash val="solid"/>
          </a:ln>
        </p:spPr>
      </p:sp>
      <p:sp>
        <p:nvSpPr>
          <p:cNvPr id="19" name="Text 17"/>
          <p:cNvSpPr/>
          <p:nvPr/>
        </p:nvSpPr>
        <p:spPr>
          <a:xfrm>
            <a:off x="859536" y="3749040"/>
            <a:ext cx="3081528" cy="292608"/>
          </a:xfrm>
          <a:prstGeom prst="rect">
            <a:avLst/>
          </a:prstGeom>
          <a:noFill/>
          <a:ln/>
        </p:spPr>
        <p:txBody>
          <a:bodyPr wrap="square" lIns="36576" tIns="18288" rIns="36576" bIns="18288" rtlCol="0" anchor="ctr"/>
          <a:lstStyle/>
          <a:p>
            <a:pPr>
              <a:defRPr sz="1050" b="1">
                <a:latin typeface="Arial"/>
              </a:defRPr>
            </a:pPr>
            <a:r>
              <a:t>Mô Phỏng Vi Khí Hậu SOTA 3D</a:t>
            </a:r>
          </a:p>
        </p:txBody>
      </p:sp>
      <p:sp>
        <p:nvSpPr>
          <p:cNvPr id="20" name="Text 18"/>
          <p:cNvSpPr/>
          <p:nvPr/>
        </p:nvSpPr>
        <p:spPr>
          <a:xfrm>
            <a:off x="859536" y="4114800"/>
            <a:ext cx="3081528" cy="75895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Ứng dụng Ladybug Tools, ENVI-met và ArcGIS Solar Analysis mô phỏng quỹ đạo mặt trời, tính toán số giờ có bóng râm và chỉ số UTCI/PET.</a:t>
            </a:r>
          </a:p>
        </p:txBody>
      </p:sp>
      <p:sp>
        <p:nvSpPr>
          <p:cNvPr id="21" name="Shape 19"/>
          <p:cNvSpPr/>
          <p:nvPr/>
        </p:nvSpPr>
        <p:spPr>
          <a:xfrm>
            <a:off x="4425696" y="3584448"/>
            <a:ext cx="3429000" cy="1417320"/>
          </a:xfrm>
          <a:prstGeom prst="roundRect">
            <a:avLst>
              <a:gd name="adj" fmla="val 3226"/>
            </a:avLst>
          </a:prstGeom>
          <a:solidFill>
            <a:srgbClr val="FFFFFF"/>
          </a:solidFill>
          <a:ln w="12700">
            <a:solidFill>
              <a:srgbClr val="D9E2EC"/>
            </a:solidFill>
            <a:prstDash val="solid"/>
          </a:ln>
        </p:spPr>
      </p:sp>
      <p:sp>
        <p:nvSpPr>
          <p:cNvPr id="22" name="Shape 20"/>
          <p:cNvSpPr/>
          <p:nvPr/>
        </p:nvSpPr>
        <p:spPr>
          <a:xfrm>
            <a:off x="4425696" y="3584448"/>
            <a:ext cx="64008" cy="1417320"/>
          </a:xfrm>
          <a:prstGeom prst="rect">
            <a:avLst/>
          </a:prstGeom>
          <a:solidFill>
            <a:srgbClr val="1F4E78"/>
          </a:solidFill>
          <a:ln w="12700">
            <a:solidFill>
              <a:srgbClr val="1F4E78"/>
            </a:solidFill>
            <a:prstDash val="solid"/>
          </a:ln>
        </p:spPr>
      </p:sp>
      <p:sp>
        <p:nvSpPr>
          <p:cNvPr id="23" name="Text 21"/>
          <p:cNvSpPr/>
          <p:nvPr/>
        </p:nvSpPr>
        <p:spPr>
          <a:xfrm>
            <a:off x="4626864" y="3749040"/>
            <a:ext cx="3081528" cy="292608"/>
          </a:xfrm>
          <a:prstGeom prst="rect">
            <a:avLst/>
          </a:prstGeom>
          <a:noFill/>
          <a:ln/>
        </p:spPr>
        <p:txBody>
          <a:bodyPr wrap="square" lIns="36576" tIns="18288" rIns="36576" bIns="18288" rtlCol="0" anchor="ctr"/>
          <a:lstStyle/>
          <a:p>
            <a:pPr>
              <a:defRPr sz="1050" b="1">
                <a:latin typeface="Arial"/>
              </a:defRPr>
            </a:pPr>
            <a:r>
              <a:t>Tối Ưu Điểm Dừng Chuẩn TCVN 13592</a:t>
            </a:r>
          </a:p>
        </p:txBody>
      </p:sp>
      <p:sp>
        <p:nvSpPr>
          <p:cNvPr id="24" name="Text 22"/>
          <p:cNvSpPr/>
          <p:nvPr/>
        </p:nvSpPr>
        <p:spPr>
          <a:xfrm>
            <a:off x="4626864" y="4114800"/>
            <a:ext cx="3081528" cy="75895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Giải thuật di truyền đa mục tiêu tìm vị trí đặt trạm râm mát nhất, đảm bảo bề rộng hè đi bộ thông suốt ≥ 1.5m và cự ly đi bộ ≤ 400m.</a:t>
            </a:r>
          </a:p>
        </p:txBody>
      </p:sp>
      <p:sp>
        <p:nvSpPr>
          <p:cNvPr id="25" name="Shape 23"/>
          <p:cNvSpPr/>
          <p:nvPr/>
        </p:nvSpPr>
        <p:spPr>
          <a:xfrm>
            <a:off x="8193024" y="3584448"/>
            <a:ext cx="3429000" cy="1417320"/>
          </a:xfrm>
          <a:prstGeom prst="roundRect">
            <a:avLst>
              <a:gd name="adj" fmla="val 3226"/>
            </a:avLst>
          </a:prstGeom>
          <a:solidFill>
            <a:srgbClr val="FFFFFF"/>
          </a:solidFill>
          <a:ln w="12700">
            <a:solidFill>
              <a:srgbClr val="D9E2EC"/>
            </a:solidFill>
            <a:prstDash val="solid"/>
          </a:ln>
        </p:spPr>
      </p:sp>
      <p:sp>
        <p:nvSpPr>
          <p:cNvPr id="26" name="Shape 24"/>
          <p:cNvSpPr/>
          <p:nvPr/>
        </p:nvSpPr>
        <p:spPr>
          <a:xfrm>
            <a:off x="8193024" y="3584448"/>
            <a:ext cx="64008" cy="1417320"/>
          </a:xfrm>
          <a:prstGeom prst="rect">
            <a:avLst/>
          </a:prstGeom>
          <a:solidFill>
            <a:srgbClr val="1F4E78"/>
          </a:solidFill>
          <a:ln w="12700">
            <a:solidFill>
              <a:srgbClr val="1F4E78"/>
            </a:solidFill>
            <a:prstDash val="solid"/>
          </a:ln>
        </p:spPr>
      </p:sp>
      <p:sp>
        <p:nvSpPr>
          <p:cNvPr id="27" name="Text 25"/>
          <p:cNvSpPr/>
          <p:nvPr/>
        </p:nvSpPr>
        <p:spPr>
          <a:xfrm>
            <a:off x="8394192" y="3749040"/>
            <a:ext cx="3081528" cy="292608"/>
          </a:xfrm>
          <a:prstGeom prst="rect">
            <a:avLst/>
          </a:prstGeom>
          <a:noFill/>
          <a:ln/>
        </p:spPr>
        <p:txBody>
          <a:bodyPr wrap="square" lIns="36576" tIns="18288" rIns="36576" bIns="18288" rtlCol="0" anchor="ctr"/>
          <a:lstStyle/>
          <a:p>
            <a:pPr>
              <a:defRPr sz="1050" b="1">
                <a:latin typeface="Arial"/>
              </a:defRPr>
            </a:pPr>
            <a:r>
              <a:t>Bản Đồ Số WebGIS 3D &amp; Bảo Mật NĐ 13</a:t>
            </a:r>
          </a:p>
        </p:txBody>
      </p:sp>
      <p:sp>
        <p:nvSpPr>
          <p:cNvPr id="28" name="Text 26"/>
          <p:cNvSpPr/>
          <p:nvPr/>
        </p:nvSpPr>
        <p:spPr>
          <a:xfrm>
            <a:off x="8394192" y="4114800"/>
            <a:ext cx="3081528" cy="75895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WebGIS tương tác 3D đa lớp dữ liệu; AI YOLOv8 tự động làm mờ 100% khuôn mặt và biển số xe bảo vệ dữ liệu cá nhân theo quy định.</a:t>
            </a:r>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indent="0" marL="0">
              <a:buNone/>
            </a:pPr>
            <a:r>
              <a:rPr lang="en-US" sz="2300" b="1" dirty="0">
                <a:solidFill>
                  <a:srgbClr val="17365D"/>
                </a:solidFill>
                <a:latin typeface="Arial" pitchFamily="34" charset="0"/>
                <a:ea typeface="Arial" pitchFamily="34" charset="-122"/>
                <a:cs typeface="Arial" pitchFamily="34" charset="-120"/>
              </a:rPr>
              <a:t>05. USE CASES</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indent="0" marL="0">
              <a:buNone/>
            </a:pPr>
            <a:r>
              <a:rPr lang="en-US" sz="1050" dirty="0">
                <a:solidFill>
                  <a:srgbClr val="637083"/>
                </a:solidFill>
                <a:latin typeface="Arial" pitchFamily="34" charset="0"/>
                <a:ea typeface="Arial" pitchFamily="34" charset="-122"/>
                <a:cs typeface="Arial" pitchFamily="34" charset="-120"/>
              </a:rPr>
              <a:t>Khách hàng sử dụng dịch vụ trong những tình huống nào?</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algn="ctr" indent="0" marL="0">
              <a:buNone/>
            </a:pPr>
            <a:r>
              <a:rPr lang="en-US" sz="850" b="1" dirty="0">
                <a:solidFill>
                  <a:srgbClr val="1F4E78"/>
                </a:solidFill>
                <a:latin typeface="Arial" pitchFamily="34" charset="0"/>
                <a:ea typeface="Arial" pitchFamily="34" charset="-122"/>
                <a:cs typeface="Arial" pitchFamily="34" charset="-120"/>
              </a:rPr>
              <a:t>WHEN TO USE</a:t>
            </a:r>
            <a:endParaRPr lang="en-US" sz="850" dirty="0"/>
          </a:p>
        </p:txBody>
      </p:sp>
      <p:sp>
        <p:nvSpPr>
          <p:cNvPr id="5" name="Text 3"/>
          <p:cNvSpPr/>
          <p:nvPr/>
        </p:nvSpPr>
        <p:spPr>
          <a:xfrm>
            <a:off x="777240" y="1783080"/>
            <a:ext cx="502920" cy="502920"/>
          </a:xfrm>
          <a:prstGeom prst="rect">
            <a:avLst/>
          </a:prstGeom>
          <a:noFill/>
          <a:ln/>
        </p:spPr>
        <p:txBody>
          <a:bodyPr wrap="square" lIns="0" tIns="0" rIns="0" bIns="0" rtlCol="0" anchor="ctr"/>
          <a:lstStyle/>
          <a:p>
            <a:pPr indent="0" marL="0">
              <a:buNone/>
            </a:pPr>
            <a:r>
              <a:rPr lang="en-US" sz="2000" b="1" dirty="0">
                <a:solidFill>
                  <a:srgbClr val="1F4E78"/>
                </a:solidFill>
              </a:rPr>
              <a:t>01</a:t>
            </a:r>
            <a:endParaRPr lang="en-US" sz="2000" dirty="0"/>
          </a:p>
        </p:txBody>
      </p:sp>
      <p:sp>
        <p:nvSpPr>
          <p:cNvPr id="6" name="Text 4"/>
          <p:cNvSpPr/>
          <p:nvPr/>
        </p:nvSpPr>
        <p:spPr>
          <a:xfrm>
            <a:off x="1417320" y="1764792"/>
            <a:ext cx="2926080" cy="292608"/>
          </a:xfrm>
          <a:prstGeom prst="rect">
            <a:avLst/>
          </a:prstGeom>
          <a:noFill/>
          <a:ln/>
        </p:spPr>
        <p:txBody>
          <a:bodyPr wrap="square" lIns="36576" tIns="18288" rIns="36576" bIns="18288" rtlCol="0" anchor="ctr"/>
          <a:lstStyle/>
          <a:p>
            <a:pPr>
              <a:defRPr sz="1100" b="1">
                <a:latin typeface="Arial"/>
              </a:defRPr>
            </a:pPr>
            <a:r>
              <a:t>Tối Ưu Hóa Tuyến Buýt Trọng Điểm</a:t>
            </a:r>
          </a:p>
        </p:txBody>
      </p:sp>
      <p:sp>
        <p:nvSpPr>
          <p:cNvPr id="7" name="Text 5"/>
          <p:cNvSpPr/>
          <p:nvPr/>
        </p:nvSpPr>
        <p:spPr>
          <a:xfrm>
            <a:off x="4389120" y="1764792"/>
            <a:ext cx="6629400" cy="457200"/>
          </a:xfrm>
          <a:prstGeom prst="rect">
            <a:avLst/>
          </a:prstGeom>
          <a:noFill/>
          <a:ln/>
        </p:spPr>
        <p:txBody>
          <a:bodyPr wrap="square" lIns="36576" tIns="18288" rIns="36576" bIns="18288" rtlCol="0" anchor="t"/>
          <a:lstStyle/>
          <a:p>
            <a:pPr algn="l">
              <a:lnSpc>
                <a:spcPct val="115000"/>
              </a:lnSpc>
              <a:spcBef>
                <a:spcPts val="0"/>
              </a:spcBef>
              <a:spcAft>
                <a:spcPts val="200"/>
              </a:spcAft>
            </a:pPr>
            <a:r>
              <a:rPr sz="950" b="0">
                <a:latin typeface="Arial"/>
              </a:rPr>
              <a:t>Khảo sát hành lang 15–30 km, rà soát 30–50 điểm dừng; đề xuất dời 60–70% trạm vào bóng cây xanh tự nhiên, giảm 10°C UTCI cho hành khách.</a:t>
            </a:r>
          </a:p>
        </p:txBody>
      </p:sp>
      <p:sp>
        <p:nvSpPr>
          <p:cNvPr id="8" name="Shape 6"/>
          <p:cNvSpPr/>
          <p:nvPr/>
        </p:nvSpPr>
        <p:spPr>
          <a:xfrm>
            <a:off x="1417320" y="2359152"/>
            <a:ext cx="9601200" cy="0"/>
          </a:xfrm>
          <a:prstGeom prst="line">
            <a:avLst/>
          </a:prstGeom>
          <a:noFill/>
          <a:ln w="12700">
            <a:solidFill>
              <a:srgbClr val="DDE4EC"/>
            </a:solidFill>
            <a:prstDash val="solid"/>
          </a:ln>
        </p:spPr>
      </p:sp>
      <p:sp>
        <p:nvSpPr>
          <p:cNvPr id="9" name="Text 7"/>
          <p:cNvSpPr/>
          <p:nvPr/>
        </p:nvSpPr>
        <p:spPr>
          <a:xfrm>
            <a:off x="777240" y="2743200"/>
            <a:ext cx="502920" cy="502920"/>
          </a:xfrm>
          <a:prstGeom prst="rect">
            <a:avLst/>
          </a:prstGeom>
          <a:noFill/>
          <a:ln/>
        </p:spPr>
        <p:txBody>
          <a:bodyPr wrap="square" lIns="0" tIns="0" rIns="0" bIns="0" rtlCol="0" anchor="ctr"/>
          <a:lstStyle/>
          <a:p>
            <a:pPr indent="0" marL="0">
              <a:buNone/>
            </a:pPr>
            <a:r>
              <a:rPr lang="en-US" sz="2000" b="1" dirty="0">
                <a:solidFill>
                  <a:srgbClr val="1F4E78"/>
                </a:solidFill>
              </a:rPr>
              <a:t>02</a:t>
            </a:r>
            <a:endParaRPr lang="en-US" sz="2000" dirty="0"/>
          </a:p>
        </p:txBody>
      </p:sp>
      <p:sp>
        <p:nvSpPr>
          <p:cNvPr id="10" name="Text 8"/>
          <p:cNvSpPr/>
          <p:nvPr/>
        </p:nvSpPr>
        <p:spPr>
          <a:xfrm>
            <a:off x="1417320" y="2724912"/>
            <a:ext cx="2926080" cy="292608"/>
          </a:xfrm>
          <a:prstGeom prst="rect">
            <a:avLst/>
          </a:prstGeom>
          <a:noFill/>
          <a:ln/>
        </p:spPr>
        <p:txBody>
          <a:bodyPr wrap="square" lIns="36576" tIns="18288" rIns="36576" bIns="18288" rtlCol="0" anchor="ctr"/>
          <a:lstStyle/>
          <a:p>
            <a:pPr>
              <a:defRPr sz="1100" b="1">
                <a:latin typeface="Arial"/>
              </a:defRPr>
            </a:pPr>
            <a:r>
              <a:t>Thiết Kế Mái Che Điểm Dừng Hè Hẹp</a:t>
            </a:r>
          </a:p>
        </p:txBody>
      </p:sp>
      <p:sp>
        <p:nvSpPr>
          <p:cNvPr id="11" name="Text 9"/>
          <p:cNvSpPr/>
          <p:nvPr/>
        </p:nvSpPr>
        <p:spPr>
          <a:xfrm>
            <a:off x="4389120" y="2724912"/>
            <a:ext cx="6629400" cy="457200"/>
          </a:xfrm>
          <a:prstGeom prst="rect">
            <a:avLst/>
          </a:prstGeom>
          <a:noFill/>
          <a:ln/>
        </p:spPr>
        <p:txBody>
          <a:bodyPr wrap="square" lIns="36576" tIns="18288" rIns="36576" bIns="18288" rtlCol="0" anchor="t"/>
          <a:lstStyle/>
          <a:p>
            <a:pPr algn="l">
              <a:lnSpc>
                <a:spcPct val="115000"/>
              </a:lnSpc>
              <a:spcBef>
                <a:spcPts val="0"/>
              </a:spcBef>
              <a:spcAft>
                <a:spcPts val="200"/>
              </a:spcAft>
            </a:pPr>
            <a:r>
              <a:rPr sz="950" b="0">
                <a:latin typeface="Arial"/>
              </a:rPr>
              <a:t>Đo đạc hè phố &lt; 2.0m; tư vấn giải pháp mái che treo tường hoặc giàn hoa leo mảng xanh đạt chuẩn TCVN 13592:2022 mà không cản trở lối đi.</a:t>
            </a:r>
          </a:p>
        </p:txBody>
      </p:sp>
      <p:sp>
        <p:nvSpPr>
          <p:cNvPr id="12" name="Shape 10"/>
          <p:cNvSpPr/>
          <p:nvPr/>
        </p:nvSpPr>
        <p:spPr>
          <a:xfrm>
            <a:off x="1417320" y="3319272"/>
            <a:ext cx="9601200" cy="0"/>
          </a:xfrm>
          <a:prstGeom prst="line">
            <a:avLst/>
          </a:prstGeom>
          <a:noFill/>
          <a:ln w="12700">
            <a:solidFill>
              <a:srgbClr val="DDE4EC"/>
            </a:solidFill>
            <a:prstDash val="solid"/>
          </a:ln>
        </p:spPr>
      </p:sp>
      <p:sp>
        <p:nvSpPr>
          <p:cNvPr id="13" name="Text 11"/>
          <p:cNvSpPr/>
          <p:nvPr/>
        </p:nvSpPr>
        <p:spPr>
          <a:xfrm>
            <a:off x="777240" y="3703320"/>
            <a:ext cx="502920" cy="502920"/>
          </a:xfrm>
          <a:prstGeom prst="rect">
            <a:avLst/>
          </a:prstGeom>
          <a:noFill/>
          <a:ln/>
        </p:spPr>
        <p:txBody>
          <a:bodyPr wrap="square" lIns="0" tIns="0" rIns="0" bIns="0" rtlCol="0" anchor="ctr"/>
          <a:lstStyle/>
          <a:p>
            <a:pPr indent="0" marL="0">
              <a:buNone/>
            </a:pPr>
            <a:r>
              <a:rPr lang="en-US" sz="2000" b="1" dirty="0">
                <a:solidFill>
                  <a:srgbClr val="1F4E78"/>
                </a:solidFill>
              </a:rPr>
              <a:t>03</a:t>
            </a:r>
            <a:endParaRPr lang="en-US" sz="2000" dirty="0"/>
          </a:p>
        </p:txBody>
      </p:sp>
      <p:sp>
        <p:nvSpPr>
          <p:cNvPr id="14" name="Text 12"/>
          <p:cNvSpPr/>
          <p:nvPr/>
        </p:nvSpPr>
        <p:spPr>
          <a:xfrm>
            <a:off x="1417320" y="3685032"/>
            <a:ext cx="2926080" cy="292608"/>
          </a:xfrm>
          <a:prstGeom prst="rect">
            <a:avLst/>
          </a:prstGeom>
          <a:noFill/>
          <a:ln/>
        </p:spPr>
        <p:txBody>
          <a:bodyPr wrap="square" lIns="36576" tIns="18288" rIns="36576" bIns="18288" rtlCol="0" anchor="ctr"/>
          <a:lstStyle/>
          <a:p>
            <a:pPr>
              <a:defRPr sz="1100" b="1">
                <a:latin typeface="Arial"/>
              </a:defRPr>
            </a:pPr>
            <a:r>
              <a:t>Đánh Giá Vi Khí Hậu Tuyến Buýt Mẫu</a:t>
            </a:r>
          </a:p>
        </p:txBody>
      </p:sp>
      <p:sp>
        <p:nvSpPr>
          <p:cNvPr id="15" name="Text 13"/>
          <p:cNvSpPr/>
          <p:nvPr/>
        </p:nvSpPr>
        <p:spPr>
          <a:xfrm>
            <a:off x="4389120" y="3685032"/>
            <a:ext cx="6629400" cy="457200"/>
          </a:xfrm>
          <a:prstGeom prst="rect">
            <a:avLst/>
          </a:prstGeom>
          <a:noFill/>
          <a:ln/>
        </p:spPr>
        <p:txBody>
          <a:bodyPr wrap="square" lIns="36576" tIns="18288" rIns="36576" bIns="18288" rtlCol="0" anchor="t"/>
          <a:lstStyle/>
          <a:p>
            <a:pPr algn="l">
              <a:lnSpc>
                <a:spcPct val="115000"/>
              </a:lnSpc>
              <a:spcBef>
                <a:spcPts val="0"/>
              </a:spcBef>
              <a:spcAft>
                <a:spcPts val="200"/>
              </a:spcAft>
            </a:pPr>
            <a:r>
              <a:rPr sz="950" b="0">
                <a:latin typeface="Arial"/>
              </a:rPr>
              <a:t>Mô phỏng trường nhiệt và tiện nghi vi khí hậu toàn diện cho các tuyến buýt nhanh/mẫu, tích hợp trạm chờ tiện nghi vào đề án Đô thị Thông minh.</a:t>
            </a:r>
          </a:p>
        </p:txBody>
      </p:sp>
      <p:sp>
        <p:nvSpPr>
          <p:cNvPr id="16" name="Shape 14"/>
          <p:cNvSpPr/>
          <p:nvPr/>
        </p:nvSpPr>
        <p:spPr>
          <a:xfrm>
            <a:off x="1417320" y="4279392"/>
            <a:ext cx="9601200" cy="0"/>
          </a:xfrm>
          <a:prstGeom prst="line">
            <a:avLst/>
          </a:prstGeom>
          <a:noFill/>
          <a:ln w="12700">
            <a:solidFill>
              <a:srgbClr val="DDE4EC"/>
            </a:solidFill>
            <a:prstDash val="solid"/>
          </a:ln>
        </p:spPr>
      </p:sp>
      <p:sp>
        <p:nvSpPr>
          <p:cNvPr id="17" name="Text 15"/>
          <p:cNvSpPr/>
          <p:nvPr/>
        </p:nvSpPr>
        <p:spPr>
          <a:xfrm>
            <a:off x="777240" y="4663440"/>
            <a:ext cx="502920" cy="502920"/>
          </a:xfrm>
          <a:prstGeom prst="rect">
            <a:avLst/>
          </a:prstGeom>
          <a:noFill/>
          <a:ln/>
        </p:spPr>
        <p:txBody>
          <a:bodyPr wrap="square" lIns="0" tIns="0" rIns="0" bIns="0" rtlCol="0" anchor="ctr"/>
          <a:lstStyle/>
          <a:p>
            <a:pPr indent="0" marL="0">
              <a:buNone/>
            </a:pPr>
            <a:r>
              <a:rPr lang="en-US" sz="2000" b="1" dirty="0">
                <a:solidFill>
                  <a:srgbClr val="1F4E78"/>
                </a:solidFill>
              </a:rPr>
              <a:t>04</a:t>
            </a:r>
            <a:endParaRPr lang="en-US" sz="2000" dirty="0"/>
          </a:p>
        </p:txBody>
      </p:sp>
      <p:sp>
        <p:nvSpPr>
          <p:cNvPr id="18" name="Text 16"/>
          <p:cNvSpPr/>
          <p:nvPr/>
        </p:nvSpPr>
        <p:spPr>
          <a:xfrm>
            <a:off x="1417320" y="4645152"/>
            <a:ext cx="2926080" cy="292608"/>
          </a:xfrm>
          <a:prstGeom prst="rect">
            <a:avLst/>
          </a:prstGeom>
          <a:noFill/>
          <a:ln/>
        </p:spPr>
        <p:txBody>
          <a:bodyPr wrap="square" lIns="36576" tIns="18288" rIns="36576" bIns="18288" rtlCol="0" anchor="ctr"/>
          <a:lstStyle/>
          <a:p>
            <a:pPr>
              <a:defRPr sz="1100" b="1">
                <a:latin typeface="Arial"/>
              </a:defRPr>
            </a:pPr>
            <a:r>
              <a:t>Số Hóa WebGIS Cây Xanh Hè Phố</a:t>
            </a:r>
          </a:p>
        </p:txBody>
      </p:sp>
      <p:sp>
        <p:nvSpPr>
          <p:cNvPr id="19" name="Text 17"/>
          <p:cNvSpPr/>
          <p:nvPr/>
        </p:nvSpPr>
        <p:spPr>
          <a:xfrm>
            <a:off x="4389120" y="4645152"/>
            <a:ext cx="6629400" cy="457200"/>
          </a:xfrm>
          <a:prstGeom prst="rect">
            <a:avLst/>
          </a:prstGeom>
          <a:noFill/>
          <a:ln/>
        </p:spPr>
        <p:txBody>
          <a:bodyPr wrap="square" lIns="36576" tIns="18288" rIns="36576" bIns="18288" rtlCol="0" anchor="t"/>
          <a:lstStyle/>
          <a:p>
            <a:pPr algn="l">
              <a:lnSpc>
                <a:spcPct val="115000"/>
              </a:lnSpc>
              <a:spcBef>
                <a:spcPts val="0"/>
              </a:spcBef>
              <a:spcAft>
                <a:spcPts val="200"/>
              </a:spcAft>
            </a:pPr>
            <a:r>
              <a:rPr sz="950" b="0">
                <a:latin typeface="Arial"/>
              </a:rPr>
              <a:t>Bàn giao lớp dữ liệu 3D độ che bóng cho Sở Xây dựng và Công ty Cây xanh để định hướng trồng bổ sung cây bóng mát trúng điểm đón.</a:t>
            </a:r>
          </a:p>
        </p:txBody>
      </p:sp>
      <p:sp>
        <p:nvSpPr>
          <p:cNvPr id="20" name="Shape 18"/>
          <p:cNvSpPr/>
          <p:nvPr/>
        </p:nvSpPr>
        <p:spPr>
          <a:xfrm>
            <a:off x="1417320" y="5239512"/>
            <a:ext cx="9601200" cy="0"/>
          </a:xfrm>
          <a:prstGeom prst="line">
            <a:avLst/>
          </a:prstGeom>
          <a:noFill/>
          <a:ln w="12700">
            <a:solidFill>
              <a:srgbClr val="DDE4EC"/>
            </a:solidFill>
            <a:prstDash val="solid"/>
          </a:ln>
        </p:spPr>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indent="0" marL="0">
              <a:buNone/>
            </a:pPr>
            <a:r>
              <a:rPr lang="en-US" sz="2300" b="1" dirty="0">
                <a:solidFill>
                  <a:srgbClr val="17365D"/>
                </a:solidFill>
                <a:latin typeface="Arial" pitchFamily="34" charset="0"/>
                <a:ea typeface="Arial" pitchFamily="34" charset="-122"/>
                <a:cs typeface="Arial" pitchFamily="34" charset="-120"/>
              </a:rPr>
              <a:t>06. SERVICE LEVELS / OPTIONS</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indent="0" marL="0">
              <a:buNone/>
            </a:pPr>
            <a:r>
              <a:rPr lang="en-US" sz="1050" dirty="0">
                <a:solidFill>
                  <a:srgbClr val="637083"/>
                </a:solidFill>
                <a:latin typeface="Arial" pitchFamily="34" charset="0"/>
                <a:ea typeface="Arial" pitchFamily="34" charset="-122"/>
                <a:cs typeface="Arial" pitchFamily="34" charset="-120"/>
              </a:rPr>
              <a:t>Khách hàng có thể lựa chọn cấu hình dịch vụ nào?</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algn="ctr" indent="0" marL="0">
              <a:buNone/>
            </a:pPr>
            <a:r>
              <a:rPr lang="en-US" sz="850" b="1" dirty="0">
                <a:solidFill>
                  <a:srgbClr val="1F4E78"/>
                </a:solidFill>
                <a:latin typeface="Arial" pitchFamily="34" charset="0"/>
                <a:ea typeface="Arial" pitchFamily="34" charset="-122"/>
                <a:cs typeface="Arial" pitchFamily="34" charset="-120"/>
              </a:rPr>
              <a:t>OPTIONS</a:t>
            </a:r>
            <a:endParaRPr lang="en-US" sz="850" dirty="0"/>
          </a:p>
        </p:txBody>
      </p:sp>
      <p:sp>
        <p:nvSpPr>
          <p:cNvPr id="5" name="Shape 3"/>
          <p:cNvSpPr/>
          <p:nvPr/>
        </p:nvSpPr>
        <p:spPr>
          <a:xfrm>
            <a:off x="685800" y="1874520"/>
            <a:ext cx="3337560" cy="3337560"/>
          </a:xfrm>
          <a:prstGeom prst="roundRect">
            <a:avLst>
              <a:gd name="adj" fmla="val 1370"/>
            </a:avLst>
          </a:prstGeom>
          <a:solidFill>
            <a:srgbClr val="FFFFFF"/>
          </a:solidFill>
          <a:ln w="12700">
            <a:solidFill>
              <a:srgbClr val="D9E2EC"/>
            </a:solidFill>
            <a:prstDash val="solid"/>
          </a:ln>
        </p:spPr>
      </p:sp>
      <p:sp>
        <p:nvSpPr>
          <p:cNvPr id="6" name="Shape 4"/>
          <p:cNvSpPr/>
          <p:nvPr/>
        </p:nvSpPr>
        <p:spPr>
          <a:xfrm>
            <a:off x="685800" y="1874520"/>
            <a:ext cx="64008" cy="3337560"/>
          </a:xfrm>
          <a:prstGeom prst="rect">
            <a:avLst/>
          </a:prstGeom>
          <a:solidFill>
            <a:srgbClr val="1F4E78"/>
          </a:solidFill>
          <a:ln w="12700">
            <a:solidFill>
              <a:srgbClr val="1F4E78"/>
            </a:solidFill>
            <a:prstDash val="solid"/>
          </a:ln>
        </p:spPr>
      </p:sp>
      <p:sp>
        <p:nvSpPr>
          <p:cNvPr id="7" name="Text 5"/>
          <p:cNvSpPr/>
          <p:nvPr/>
        </p:nvSpPr>
        <p:spPr>
          <a:xfrm>
            <a:off x="886968" y="2039112"/>
            <a:ext cx="2990088" cy="292608"/>
          </a:xfrm>
          <a:prstGeom prst="rect">
            <a:avLst/>
          </a:prstGeom>
          <a:noFill/>
          <a:ln/>
        </p:spPr>
        <p:txBody>
          <a:bodyPr wrap="square" lIns="36576" tIns="18288" rIns="36576" bIns="18288" rtlCol="0" anchor="ctr"/>
          <a:lstStyle/>
          <a:p>
            <a:pPr>
              <a:defRPr sz="1050" b="1">
                <a:latin typeface="Arial"/>
              </a:defRPr>
            </a:pPr>
            <a:r>
              <a:t>LEVEL 1 — Standard (Bóng râm tĩnh cơ bản)</a:t>
            </a:r>
          </a:p>
        </p:txBody>
      </p:sp>
      <p:sp>
        <p:nvSpPr>
          <p:cNvPr id="8" name="Text 6"/>
          <p:cNvSpPr/>
          <p:nvPr/>
        </p:nvSpPr>
        <p:spPr>
          <a:xfrm>
            <a:off x="886968" y="2404872"/>
            <a:ext cx="2990088" cy="267919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 Phạm vi: Khảo sát không ảnh 2D RGB, trích xuất bóng râm tĩnh tại 2 thời điểm cao điểm (08h00 và 16h00).</a:t>
            </a:r>
          </a:p>
          <a:p>
            <a:pPr algn="l">
              <a:lnSpc>
                <a:spcPct val="115000"/>
              </a:lnSpc>
              <a:spcBef>
                <a:spcPts val="0"/>
              </a:spcBef>
              <a:spcAft>
                <a:spcPts val="200"/>
              </a:spcAft>
            </a:pPr>
            <a:r>
              <a:rPr sz="900" b="0">
                <a:latin typeface="Arial"/>
              </a:rPr>
              <a:t>• Output: Báo cáo đánh giá hiện trạng bóng râm (PDF), Bản đồ ảnh trực giao 2D Orthophoto.</a:t>
            </a:r>
          </a:p>
          <a:p>
            <a:pPr algn="l">
              <a:lnSpc>
                <a:spcPct val="115000"/>
              </a:lnSpc>
              <a:spcBef>
                <a:spcPts val="0"/>
              </a:spcBef>
              <a:spcAft>
                <a:spcPts val="200"/>
              </a:spcAft>
            </a:pPr>
            <a:r>
              <a:rPr sz="900" b="0">
                <a:latin typeface="Arial"/>
              </a:rPr>
              <a:t>• Phù hợp: Tuyến ngoại thành hoặc rà soát sơ bộ.</a:t>
            </a:r>
          </a:p>
        </p:txBody>
      </p:sp>
      <p:sp>
        <p:nvSpPr>
          <p:cNvPr id="9" name="Shape 7"/>
          <p:cNvSpPr/>
          <p:nvPr/>
        </p:nvSpPr>
        <p:spPr>
          <a:xfrm>
            <a:off x="4434840" y="1874520"/>
            <a:ext cx="3337560" cy="3337560"/>
          </a:xfrm>
          <a:prstGeom prst="roundRect">
            <a:avLst>
              <a:gd name="adj" fmla="val 1370"/>
            </a:avLst>
          </a:prstGeom>
          <a:solidFill>
            <a:srgbClr val="FFFFFF"/>
          </a:solidFill>
          <a:ln w="12700">
            <a:solidFill>
              <a:srgbClr val="D9E2EC"/>
            </a:solidFill>
            <a:prstDash val="solid"/>
          </a:ln>
        </p:spPr>
      </p:sp>
      <p:sp>
        <p:nvSpPr>
          <p:cNvPr id="10" name="Shape 8"/>
          <p:cNvSpPr/>
          <p:nvPr/>
        </p:nvSpPr>
        <p:spPr>
          <a:xfrm>
            <a:off x="4434840" y="1874520"/>
            <a:ext cx="64008" cy="3337560"/>
          </a:xfrm>
          <a:prstGeom prst="rect">
            <a:avLst/>
          </a:prstGeom>
          <a:solidFill>
            <a:srgbClr val="C89B3C"/>
          </a:solidFill>
          <a:ln w="12700">
            <a:solidFill>
              <a:srgbClr val="C89B3C"/>
            </a:solidFill>
            <a:prstDash val="solid"/>
          </a:ln>
        </p:spPr>
      </p:sp>
      <p:sp>
        <p:nvSpPr>
          <p:cNvPr id="11" name="Text 9"/>
          <p:cNvSpPr/>
          <p:nvPr/>
        </p:nvSpPr>
        <p:spPr>
          <a:xfrm>
            <a:off x="4636008" y="2039112"/>
            <a:ext cx="2990088" cy="292608"/>
          </a:xfrm>
          <a:prstGeom prst="rect">
            <a:avLst/>
          </a:prstGeom>
          <a:noFill/>
          <a:ln/>
        </p:spPr>
        <p:txBody>
          <a:bodyPr wrap="square" lIns="36576" tIns="18288" rIns="36576" bIns="18288" rtlCol="0" anchor="ctr"/>
          <a:lstStyle/>
          <a:p>
            <a:pPr>
              <a:defRPr sz="1050" b="1">
                <a:latin typeface="Arial"/>
              </a:defRPr>
            </a:pPr>
            <a:r>
              <a:t>LEVEL 2 — Advanced (Mô phỏng động &amp; Quét nhiệt)</a:t>
            </a:r>
          </a:p>
        </p:txBody>
      </p:sp>
      <p:sp>
        <p:nvSpPr>
          <p:cNvPr id="12" name="Text 10"/>
          <p:cNvSpPr/>
          <p:nvPr/>
        </p:nvSpPr>
        <p:spPr>
          <a:xfrm>
            <a:off x="4636008" y="2404872"/>
            <a:ext cx="2990088" cy="267919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 Phạm vi: Dựng 3D DSM/DTM, bay quét nhiệt M3T giờ nắng gắt, mô phỏng bóng râm theo giờ (07h–17h), tính UTCI, đề xuất dời trạm.</a:t>
            </a:r>
          </a:p>
          <a:p>
            <a:pPr algn="l">
              <a:lnSpc>
                <a:spcPct val="115000"/>
              </a:lnSpc>
              <a:spcBef>
                <a:spcPts val="0"/>
              </a:spcBef>
              <a:spcAft>
                <a:spcPts val="200"/>
              </a:spcAft>
            </a:pPr>
            <a:r>
              <a:rPr sz="900" b="0">
                <a:latin typeface="Arial"/>
              </a:rPr>
              <a:t>• Output: WebGIS tương tác 3D, Bản đồ nhiệt vi khí hậu, Bảng tọa độ di dời trạm.</a:t>
            </a:r>
          </a:p>
          <a:p>
            <a:pPr algn="l">
              <a:lnSpc>
                <a:spcPct val="115000"/>
              </a:lnSpc>
              <a:spcBef>
                <a:spcPts val="0"/>
              </a:spcBef>
              <a:spcAft>
                <a:spcPts val="200"/>
              </a:spcAft>
            </a:pPr>
            <a:r>
              <a:rPr sz="900" b="0">
                <a:latin typeface="Arial"/>
              </a:rPr>
              <a:t>• Khuyến nghị: Chuẩn cho Sở GTVT &amp; Đơn vị khai thác.</a:t>
            </a:r>
          </a:p>
        </p:txBody>
      </p:sp>
      <p:sp>
        <p:nvSpPr>
          <p:cNvPr id="13" name="Shape 11"/>
          <p:cNvSpPr/>
          <p:nvPr/>
        </p:nvSpPr>
        <p:spPr>
          <a:xfrm>
            <a:off x="8183880" y="1874520"/>
            <a:ext cx="3337560" cy="3337560"/>
          </a:xfrm>
          <a:prstGeom prst="roundRect">
            <a:avLst>
              <a:gd name="adj" fmla="val 1370"/>
            </a:avLst>
          </a:prstGeom>
          <a:solidFill>
            <a:srgbClr val="FFFFFF"/>
          </a:solidFill>
          <a:ln w="12700">
            <a:solidFill>
              <a:srgbClr val="D9E2EC"/>
            </a:solidFill>
            <a:prstDash val="solid"/>
          </a:ln>
        </p:spPr>
      </p:sp>
      <p:sp>
        <p:nvSpPr>
          <p:cNvPr id="14" name="Shape 12"/>
          <p:cNvSpPr/>
          <p:nvPr/>
        </p:nvSpPr>
        <p:spPr>
          <a:xfrm>
            <a:off x="8183880" y="1874520"/>
            <a:ext cx="64008" cy="3337560"/>
          </a:xfrm>
          <a:prstGeom prst="rect">
            <a:avLst/>
          </a:prstGeom>
          <a:solidFill>
            <a:srgbClr val="1F4E78"/>
          </a:solidFill>
          <a:ln w="12700">
            <a:solidFill>
              <a:srgbClr val="1F4E78"/>
            </a:solidFill>
            <a:prstDash val="solid"/>
          </a:ln>
        </p:spPr>
      </p:sp>
      <p:sp>
        <p:nvSpPr>
          <p:cNvPr id="15" name="Text 13"/>
          <p:cNvSpPr/>
          <p:nvPr/>
        </p:nvSpPr>
        <p:spPr>
          <a:xfrm>
            <a:off x="8385048" y="2039112"/>
            <a:ext cx="2990088" cy="292608"/>
          </a:xfrm>
          <a:prstGeom prst="rect">
            <a:avLst/>
          </a:prstGeom>
          <a:noFill/>
          <a:ln/>
        </p:spPr>
        <p:txBody>
          <a:bodyPr wrap="square" lIns="36576" tIns="18288" rIns="36576" bIns="18288" rtlCol="0" anchor="ctr"/>
          <a:lstStyle/>
          <a:p>
            <a:pPr>
              <a:defRPr sz="1050" b="1">
                <a:latin typeface="Arial"/>
              </a:defRPr>
            </a:pPr>
            <a:r>
              <a:t>LEVEL 3 — Enterprise (Tối ưu toàn diện &amp; Digital Twin)</a:t>
            </a:r>
          </a:p>
        </p:txBody>
      </p:sp>
      <p:sp>
        <p:nvSpPr>
          <p:cNvPr id="16" name="Text 14"/>
          <p:cNvSpPr/>
          <p:nvPr/>
        </p:nvSpPr>
        <p:spPr>
          <a:xfrm>
            <a:off x="8385048" y="2404872"/>
            <a:ext cx="2990088" cy="267919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 Phạm vi: Toàn bộ Level 2 + mô phỏng ENVI-met chuyên sâu, thiết kế nhà chờ xanh theo chuẩn TCVN 13592, tích hợp API Digital Twin đô thị.</a:t>
            </a:r>
          </a:p>
          <a:p>
            <a:pPr algn="l">
              <a:lnSpc>
                <a:spcPct val="115000"/>
              </a:lnSpc>
              <a:spcBef>
                <a:spcPts val="0"/>
              </a:spcBef>
              <a:spcAft>
                <a:spcPts val="200"/>
              </a:spcAft>
            </a:pPr>
            <a:r>
              <a:rPr sz="900" b="0">
                <a:latin typeface="Arial"/>
              </a:rPr>
              <a:t>• Output: Nền tảng Digital Twin tích hợp BusMap, Hồ sơ thiết kế kỹ thuật trạm dừng xanh.</a:t>
            </a:r>
          </a:p>
          <a:p>
            <a:pPr algn="l">
              <a:lnSpc>
                <a:spcPct val="115000"/>
              </a:lnSpc>
              <a:spcBef>
                <a:spcPts val="0"/>
              </a:spcBef>
              <a:spcAft>
                <a:spcPts val="200"/>
              </a:spcAft>
            </a:pPr>
            <a:r>
              <a:rPr sz="900" b="0">
                <a:latin typeface="Arial"/>
              </a:rPr>
              <a:t>• Khuyến nghị: Tuyến kiểu mẫu &amp; Đô thị Thông minh.</a:t>
            </a:r>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indent="0" marL="0">
              <a:buNone/>
            </a:pPr>
            <a:r>
              <a:rPr lang="en-US" sz="2300" b="1" dirty="0">
                <a:solidFill>
                  <a:srgbClr val="17365D"/>
                </a:solidFill>
                <a:latin typeface="Arial" pitchFamily="34" charset="0"/>
                <a:ea typeface="Arial" pitchFamily="34" charset="-122"/>
                <a:cs typeface="Arial" pitchFamily="34" charset="-120"/>
              </a:rPr>
              <a:t>07. HOW IT WORKS &amp; DELIVERABLES</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indent="0" marL="0">
              <a:buNone/>
            </a:pPr>
            <a:r>
              <a:rPr lang="en-US" sz="1050" dirty="0">
                <a:solidFill>
                  <a:srgbClr val="637083"/>
                </a:solidFill>
                <a:latin typeface="Arial" pitchFamily="34" charset="0"/>
                <a:ea typeface="Arial" pitchFamily="34" charset="-122"/>
                <a:cs typeface="Arial" pitchFamily="34" charset="-120"/>
              </a:rPr>
              <a:t>Dịch vụ vận hành ở mức khách hàng cần hiểu như thế nào?</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algn="ctr" indent="0" marL="0">
              <a:buNone/>
            </a:pPr>
            <a:r>
              <a:rPr lang="en-US" sz="850" b="1" dirty="0">
                <a:solidFill>
                  <a:srgbClr val="1F4E78"/>
                </a:solidFill>
                <a:latin typeface="Arial" pitchFamily="34" charset="0"/>
                <a:ea typeface="Arial" pitchFamily="34" charset="-122"/>
                <a:cs typeface="Arial" pitchFamily="34" charset="-120"/>
              </a:rPr>
              <a:t>HOW IT WORKS</a:t>
            </a:r>
            <a:endParaRPr lang="en-US" sz="850" dirty="0"/>
          </a:p>
        </p:txBody>
      </p:sp>
      <p:sp>
        <p:nvSpPr>
          <p:cNvPr id="5" name="Shape 3"/>
          <p:cNvSpPr/>
          <p:nvPr/>
        </p:nvSpPr>
        <p:spPr>
          <a:xfrm>
            <a:off x="640080" y="1783080"/>
            <a:ext cx="1508760" cy="731520"/>
          </a:xfrm>
          <a:prstGeom prst="roundRect">
            <a:avLst/>
          </a:prstGeom>
          <a:solidFill>
            <a:srgbClr val="FFFFFF"/>
          </a:solidFill>
          <a:ln w="12700">
            <a:solidFill>
              <a:srgbClr val="1F4E78"/>
            </a:solidFill>
            <a:prstDash val="solid"/>
          </a:ln>
        </p:spPr>
      </p:sp>
      <p:sp>
        <p:nvSpPr>
          <p:cNvPr id="6" name="Text 4"/>
          <p:cNvSpPr/>
          <p:nvPr/>
        </p:nvSpPr>
        <p:spPr>
          <a:xfrm>
            <a:off x="713232" y="1947672"/>
            <a:ext cx="1353312" cy="320040"/>
          </a:xfrm>
          <a:prstGeom prst="rect">
            <a:avLst/>
          </a:prstGeom>
          <a:noFill/>
          <a:ln/>
        </p:spPr>
        <p:txBody>
          <a:bodyPr wrap="square" lIns="36576" tIns="18288" rIns="36576" bIns="18288" rtlCol="0" anchor="ctr"/>
          <a:lstStyle/>
          <a:p>
            <a:pPr>
              <a:defRPr sz="900" b="1">
                <a:latin typeface="Arial"/>
              </a:defRPr>
            </a:pPr>
            <a:r>
              <a:t>01. Khảo Sát &amp; Lập Lịch</a:t>
            </a:r>
          </a:p>
        </p:txBody>
      </p:sp>
      <p:sp>
        <p:nvSpPr>
          <p:cNvPr id="7" name="Text 5"/>
          <p:cNvSpPr/>
          <p:nvPr/>
        </p:nvSpPr>
        <p:spPr>
          <a:xfrm>
            <a:off x="2176272" y="1938528"/>
            <a:ext cx="228600" cy="274320"/>
          </a:xfrm>
          <a:prstGeom prst="rect">
            <a:avLst/>
          </a:prstGeom>
          <a:noFill/>
          <a:ln/>
        </p:spPr>
        <p:txBody>
          <a:bodyPr wrap="square" lIns="0" tIns="0" rIns="0" bIns="0" rtlCol="0" anchor="ctr"/>
          <a:lstStyle/>
          <a:p>
            <a:pPr indent="0" marL="0">
              <a:buNone/>
            </a:pPr>
            <a:r>
              <a:rPr lang="en-US" sz="1800" dirty="0">
                <a:solidFill>
                  <a:srgbClr val="1F4E78"/>
                </a:solidFill>
              </a:rPr>
              <a:t>→</a:t>
            </a:r>
            <a:endParaRPr lang="en-US" sz="1800" dirty="0"/>
          </a:p>
        </p:txBody>
      </p:sp>
      <p:sp>
        <p:nvSpPr>
          <p:cNvPr id="8" name="Shape 6"/>
          <p:cNvSpPr/>
          <p:nvPr/>
        </p:nvSpPr>
        <p:spPr>
          <a:xfrm>
            <a:off x="2514600" y="1783080"/>
            <a:ext cx="1508760" cy="731520"/>
          </a:xfrm>
          <a:prstGeom prst="roundRect">
            <a:avLst/>
          </a:prstGeom>
          <a:solidFill>
            <a:srgbClr val="FFFFFF"/>
          </a:solidFill>
          <a:ln w="12700">
            <a:solidFill>
              <a:srgbClr val="1F4E78"/>
            </a:solidFill>
            <a:prstDash val="solid"/>
          </a:ln>
        </p:spPr>
      </p:sp>
      <p:sp>
        <p:nvSpPr>
          <p:cNvPr id="9" name="Text 7"/>
          <p:cNvSpPr/>
          <p:nvPr/>
        </p:nvSpPr>
        <p:spPr>
          <a:xfrm>
            <a:off x="2587752" y="1947672"/>
            <a:ext cx="1353312" cy="320040"/>
          </a:xfrm>
          <a:prstGeom prst="rect">
            <a:avLst/>
          </a:prstGeom>
          <a:noFill/>
          <a:ln/>
        </p:spPr>
        <p:txBody>
          <a:bodyPr wrap="square" lIns="36576" tIns="18288" rIns="36576" bIns="18288" rtlCol="0" anchor="ctr"/>
          <a:lstStyle/>
          <a:p>
            <a:pPr>
              <a:defRPr sz="900" b="1">
                <a:latin typeface="Arial"/>
              </a:defRPr>
            </a:pPr>
            <a:r>
              <a:t>02. Đo Mốc GCP &amp; Phép Bay</a:t>
            </a:r>
          </a:p>
        </p:txBody>
      </p:sp>
      <p:sp>
        <p:nvSpPr>
          <p:cNvPr id="10" name="Text 8"/>
          <p:cNvSpPr/>
          <p:nvPr/>
        </p:nvSpPr>
        <p:spPr>
          <a:xfrm>
            <a:off x="4050792" y="1938528"/>
            <a:ext cx="228600" cy="274320"/>
          </a:xfrm>
          <a:prstGeom prst="rect">
            <a:avLst/>
          </a:prstGeom>
          <a:noFill/>
          <a:ln/>
        </p:spPr>
        <p:txBody>
          <a:bodyPr wrap="square" lIns="0" tIns="0" rIns="0" bIns="0" rtlCol="0" anchor="ctr"/>
          <a:lstStyle/>
          <a:p>
            <a:pPr indent="0" marL="0">
              <a:buNone/>
            </a:pPr>
            <a:r>
              <a:rPr lang="en-US" sz="1800" dirty="0">
                <a:solidFill>
                  <a:srgbClr val="1F4E78"/>
                </a:solidFill>
              </a:rPr>
              <a:t>→</a:t>
            </a:r>
            <a:endParaRPr lang="en-US" sz="1800" dirty="0"/>
          </a:p>
        </p:txBody>
      </p:sp>
      <p:sp>
        <p:nvSpPr>
          <p:cNvPr id="11" name="Shape 9"/>
          <p:cNvSpPr/>
          <p:nvPr/>
        </p:nvSpPr>
        <p:spPr>
          <a:xfrm>
            <a:off x="4389120" y="1783080"/>
            <a:ext cx="1508760" cy="731520"/>
          </a:xfrm>
          <a:prstGeom prst="roundRect">
            <a:avLst/>
          </a:prstGeom>
          <a:solidFill>
            <a:srgbClr val="FFFFFF"/>
          </a:solidFill>
          <a:ln w="12700">
            <a:solidFill>
              <a:srgbClr val="1F4E78"/>
            </a:solidFill>
            <a:prstDash val="solid"/>
          </a:ln>
        </p:spPr>
      </p:sp>
      <p:sp>
        <p:nvSpPr>
          <p:cNvPr id="12" name="Text 10"/>
          <p:cNvSpPr/>
          <p:nvPr/>
        </p:nvSpPr>
        <p:spPr>
          <a:xfrm>
            <a:off x="4462272" y="1947672"/>
            <a:ext cx="1353312" cy="320040"/>
          </a:xfrm>
          <a:prstGeom prst="rect">
            <a:avLst/>
          </a:prstGeom>
          <a:noFill/>
          <a:ln/>
        </p:spPr>
        <p:txBody>
          <a:bodyPr wrap="square" lIns="36576" tIns="18288" rIns="36576" bIns="18288" rtlCol="0" anchor="ctr"/>
          <a:lstStyle/>
          <a:p>
            <a:pPr>
              <a:defRPr sz="900" b="1">
                <a:latin typeface="Arial"/>
              </a:defRPr>
            </a:pPr>
            <a:r>
              <a:t>03. Bay Quét RGB &amp; Nhiệt</a:t>
            </a:r>
          </a:p>
        </p:txBody>
      </p:sp>
      <p:sp>
        <p:nvSpPr>
          <p:cNvPr id="13" name="Text 11"/>
          <p:cNvSpPr/>
          <p:nvPr/>
        </p:nvSpPr>
        <p:spPr>
          <a:xfrm>
            <a:off x="5925312" y="1938528"/>
            <a:ext cx="228600" cy="274320"/>
          </a:xfrm>
          <a:prstGeom prst="rect">
            <a:avLst/>
          </a:prstGeom>
          <a:noFill/>
          <a:ln/>
        </p:spPr>
        <p:txBody>
          <a:bodyPr wrap="square" lIns="0" tIns="0" rIns="0" bIns="0" rtlCol="0" anchor="ctr"/>
          <a:lstStyle/>
          <a:p>
            <a:pPr indent="0" marL="0">
              <a:buNone/>
            </a:pPr>
            <a:r>
              <a:rPr lang="en-US" sz="1800" dirty="0">
                <a:solidFill>
                  <a:srgbClr val="1F4E78"/>
                </a:solidFill>
              </a:rPr>
              <a:t>→</a:t>
            </a:r>
            <a:endParaRPr lang="en-US" sz="1800" dirty="0"/>
          </a:p>
        </p:txBody>
      </p:sp>
      <p:sp>
        <p:nvSpPr>
          <p:cNvPr id="14" name="Shape 12"/>
          <p:cNvSpPr/>
          <p:nvPr/>
        </p:nvSpPr>
        <p:spPr>
          <a:xfrm>
            <a:off x="6263640" y="1783080"/>
            <a:ext cx="1508760" cy="731520"/>
          </a:xfrm>
          <a:prstGeom prst="roundRect">
            <a:avLst/>
          </a:prstGeom>
          <a:solidFill>
            <a:srgbClr val="FFFFFF"/>
          </a:solidFill>
          <a:ln w="12700">
            <a:solidFill>
              <a:srgbClr val="1F4E78"/>
            </a:solidFill>
            <a:prstDash val="solid"/>
          </a:ln>
        </p:spPr>
      </p:sp>
      <p:sp>
        <p:nvSpPr>
          <p:cNvPr id="15" name="Text 13"/>
          <p:cNvSpPr/>
          <p:nvPr/>
        </p:nvSpPr>
        <p:spPr>
          <a:xfrm>
            <a:off x="6336792" y="1947672"/>
            <a:ext cx="1353312" cy="320040"/>
          </a:xfrm>
          <a:prstGeom prst="rect">
            <a:avLst/>
          </a:prstGeom>
          <a:noFill/>
          <a:ln/>
        </p:spPr>
        <p:txBody>
          <a:bodyPr wrap="square" lIns="36576" tIns="18288" rIns="36576" bIns="18288" rtlCol="0" anchor="ctr"/>
          <a:lstStyle/>
          <a:p>
            <a:pPr>
              <a:defRPr sz="900" b="1">
                <a:latin typeface="Arial"/>
              </a:defRPr>
            </a:pPr>
            <a:r>
              <a:t>04. Xử Lý 3D &amp; Ẩn Danh AI</a:t>
            </a:r>
          </a:p>
        </p:txBody>
      </p:sp>
      <p:sp>
        <p:nvSpPr>
          <p:cNvPr id="16" name="Text 14"/>
          <p:cNvSpPr/>
          <p:nvPr/>
        </p:nvSpPr>
        <p:spPr>
          <a:xfrm>
            <a:off x="7799832" y="1938528"/>
            <a:ext cx="228600" cy="274320"/>
          </a:xfrm>
          <a:prstGeom prst="rect">
            <a:avLst/>
          </a:prstGeom>
          <a:noFill/>
          <a:ln/>
        </p:spPr>
        <p:txBody>
          <a:bodyPr wrap="square" lIns="0" tIns="0" rIns="0" bIns="0" rtlCol="0" anchor="ctr"/>
          <a:lstStyle/>
          <a:p>
            <a:pPr indent="0" marL="0">
              <a:buNone/>
            </a:pPr>
            <a:r>
              <a:rPr lang="en-US" sz="1800" dirty="0">
                <a:solidFill>
                  <a:srgbClr val="1F4E78"/>
                </a:solidFill>
              </a:rPr>
              <a:t>→</a:t>
            </a:r>
            <a:endParaRPr lang="en-US" sz="1800" dirty="0"/>
          </a:p>
        </p:txBody>
      </p:sp>
      <p:sp>
        <p:nvSpPr>
          <p:cNvPr id="17" name="Shape 15"/>
          <p:cNvSpPr/>
          <p:nvPr/>
        </p:nvSpPr>
        <p:spPr>
          <a:xfrm>
            <a:off x="8138160" y="1783080"/>
            <a:ext cx="1508760" cy="731520"/>
          </a:xfrm>
          <a:prstGeom prst="roundRect">
            <a:avLst/>
          </a:prstGeom>
          <a:solidFill>
            <a:srgbClr val="FFFFFF"/>
          </a:solidFill>
          <a:ln w="12700">
            <a:solidFill>
              <a:srgbClr val="1F4E78"/>
            </a:solidFill>
            <a:prstDash val="solid"/>
          </a:ln>
        </p:spPr>
      </p:sp>
      <p:sp>
        <p:nvSpPr>
          <p:cNvPr id="18" name="Text 16"/>
          <p:cNvSpPr/>
          <p:nvPr/>
        </p:nvSpPr>
        <p:spPr>
          <a:xfrm>
            <a:off x="8211312" y="1947672"/>
            <a:ext cx="1353312" cy="320040"/>
          </a:xfrm>
          <a:prstGeom prst="rect">
            <a:avLst/>
          </a:prstGeom>
          <a:noFill/>
          <a:ln/>
        </p:spPr>
        <p:txBody>
          <a:bodyPr wrap="square" lIns="36576" tIns="18288" rIns="36576" bIns="18288" rtlCol="0" anchor="ctr"/>
          <a:lstStyle/>
          <a:p>
            <a:pPr>
              <a:defRPr sz="900" b="1">
                <a:latin typeface="Arial"/>
              </a:defRPr>
            </a:pPr>
            <a:r>
              <a:t>05. Mô Phỏng &amp; Tối Ưu Hóa</a:t>
            </a:r>
          </a:p>
        </p:txBody>
      </p:sp>
      <p:sp>
        <p:nvSpPr>
          <p:cNvPr id="19" name="Text 17"/>
          <p:cNvSpPr/>
          <p:nvPr/>
        </p:nvSpPr>
        <p:spPr>
          <a:xfrm>
            <a:off x="9674352" y="1938528"/>
            <a:ext cx="228600" cy="274320"/>
          </a:xfrm>
          <a:prstGeom prst="rect">
            <a:avLst/>
          </a:prstGeom>
          <a:noFill/>
          <a:ln/>
        </p:spPr>
        <p:txBody>
          <a:bodyPr wrap="square" lIns="0" tIns="0" rIns="0" bIns="0" rtlCol="0" anchor="ctr"/>
          <a:lstStyle/>
          <a:p>
            <a:pPr indent="0" marL="0">
              <a:buNone/>
            </a:pPr>
            <a:r>
              <a:rPr lang="en-US" sz="1800" dirty="0">
                <a:solidFill>
                  <a:srgbClr val="1F4E78"/>
                </a:solidFill>
              </a:rPr>
              <a:t>→</a:t>
            </a:r>
            <a:endParaRPr lang="en-US" sz="1800" dirty="0"/>
          </a:p>
        </p:txBody>
      </p:sp>
      <p:sp>
        <p:nvSpPr>
          <p:cNvPr id="20" name="Shape 18"/>
          <p:cNvSpPr/>
          <p:nvPr/>
        </p:nvSpPr>
        <p:spPr>
          <a:xfrm>
            <a:off x="10012680" y="1783080"/>
            <a:ext cx="1508760" cy="731520"/>
          </a:xfrm>
          <a:prstGeom prst="roundRect">
            <a:avLst/>
          </a:prstGeom>
          <a:solidFill>
            <a:srgbClr val="1F4E78"/>
          </a:solidFill>
          <a:ln w="12700">
            <a:solidFill>
              <a:srgbClr val="1F4E78"/>
            </a:solidFill>
            <a:prstDash val="solid"/>
          </a:ln>
        </p:spPr>
      </p:sp>
      <p:sp>
        <p:nvSpPr>
          <p:cNvPr id="21" name="Text 19"/>
          <p:cNvSpPr/>
          <p:nvPr/>
        </p:nvSpPr>
        <p:spPr>
          <a:xfrm>
            <a:off x="10085832" y="1947672"/>
            <a:ext cx="1353312" cy="320040"/>
          </a:xfrm>
          <a:prstGeom prst="rect">
            <a:avLst/>
          </a:prstGeom>
          <a:noFill/>
          <a:ln/>
        </p:spPr>
        <p:txBody>
          <a:bodyPr wrap="square" lIns="36576" tIns="18288" rIns="36576" bIns="18288" rtlCol="0" anchor="ctr"/>
          <a:lstStyle/>
          <a:p>
            <a:pPr>
              <a:defRPr sz="900" b="1">
                <a:latin typeface="Arial"/>
              </a:defRPr>
            </a:pPr>
            <a:r>
              <a:t>06. Bàn Giao WebGIS 3D</a:t>
            </a:r>
          </a:p>
        </p:txBody>
      </p:sp>
      <p:sp>
        <p:nvSpPr>
          <p:cNvPr id="22" name="Shape 20"/>
          <p:cNvSpPr/>
          <p:nvPr/>
        </p:nvSpPr>
        <p:spPr>
          <a:xfrm>
            <a:off x="685800" y="2971800"/>
            <a:ext cx="5166360" cy="960120"/>
          </a:xfrm>
          <a:prstGeom prst="roundRect">
            <a:avLst>
              <a:gd name="adj" fmla="val 4762"/>
            </a:avLst>
          </a:prstGeom>
          <a:solidFill>
            <a:srgbClr val="FFFFFF"/>
          </a:solidFill>
          <a:ln w="12700">
            <a:solidFill>
              <a:srgbClr val="D9E2EC"/>
            </a:solidFill>
            <a:prstDash val="solid"/>
          </a:ln>
        </p:spPr>
      </p:sp>
      <p:sp>
        <p:nvSpPr>
          <p:cNvPr id="23" name="Shape 21"/>
          <p:cNvSpPr/>
          <p:nvPr/>
        </p:nvSpPr>
        <p:spPr>
          <a:xfrm>
            <a:off x="685800" y="2971800"/>
            <a:ext cx="64008" cy="960120"/>
          </a:xfrm>
          <a:prstGeom prst="rect">
            <a:avLst/>
          </a:prstGeom>
          <a:solidFill>
            <a:srgbClr val="1F4E78"/>
          </a:solidFill>
          <a:ln w="12700">
            <a:solidFill>
              <a:srgbClr val="1F4E78"/>
            </a:solidFill>
            <a:prstDash val="solid"/>
          </a:ln>
        </p:spPr>
      </p:sp>
      <p:sp>
        <p:nvSpPr>
          <p:cNvPr id="24" name="Text 22"/>
          <p:cNvSpPr/>
          <p:nvPr/>
        </p:nvSpPr>
        <p:spPr>
          <a:xfrm>
            <a:off x="886968" y="3136392"/>
            <a:ext cx="4818888" cy="292608"/>
          </a:xfrm>
          <a:prstGeom prst="rect">
            <a:avLst/>
          </a:prstGeom>
          <a:noFill/>
          <a:ln/>
        </p:spPr>
        <p:txBody>
          <a:bodyPr wrap="square" lIns="36576" tIns="18288" rIns="36576" bIns="18288" rtlCol="0" anchor="ctr"/>
          <a:lstStyle/>
          <a:p>
            <a:pPr>
              <a:defRPr sz="1000" b="1">
                <a:latin typeface="Arial"/>
              </a:defRPr>
            </a:pPr>
            <a:r>
              <a:t>Deliverable 1: Bản Đồ 3D Tương Tác WebGIS</a:t>
            </a:r>
          </a:p>
        </p:txBody>
      </p:sp>
      <p:sp>
        <p:nvSpPr>
          <p:cNvPr id="25" name="Text 23"/>
          <p:cNvSpPr/>
          <p:nvPr/>
        </p:nvSpPr>
        <p:spPr>
          <a:xfrm>
            <a:off x="886968" y="3502152"/>
            <a:ext cx="4818888" cy="30175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Nền tảng WebGIS 3D trực quan trên nền web, tích hợp thanh trượt thời gian mô phỏng hướng nắng và bóng đổ liên tục từ 07h00 đến 17h00.</a:t>
            </a:r>
          </a:p>
        </p:txBody>
      </p:sp>
      <p:sp>
        <p:nvSpPr>
          <p:cNvPr id="26" name="Shape 24"/>
          <p:cNvSpPr/>
          <p:nvPr/>
        </p:nvSpPr>
        <p:spPr>
          <a:xfrm>
            <a:off x="6217920" y="2971800"/>
            <a:ext cx="5166360" cy="960120"/>
          </a:xfrm>
          <a:prstGeom prst="roundRect">
            <a:avLst>
              <a:gd name="adj" fmla="val 4762"/>
            </a:avLst>
          </a:prstGeom>
          <a:solidFill>
            <a:srgbClr val="FFFFFF"/>
          </a:solidFill>
          <a:ln w="12700">
            <a:solidFill>
              <a:srgbClr val="D9E2EC"/>
            </a:solidFill>
            <a:prstDash val="solid"/>
          </a:ln>
        </p:spPr>
      </p:sp>
      <p:sp>
        <p:nvSpPr>
          <p:cNvPr id="27" name="Shape 25"/>
          <p:cNvSpPr/>
          <p:nvPr/>
        </p:nvSpPr>
        <p:spPr>
          <a:xfrm>
            <a:off x="6217920" y="2971800"/>
            <a:ext cx="64008" cy="960120"/>
          </a:xfrm>
          <a:prstGeom prst="rect">
            <a:avLst/>
          </a:prstGeom>
          <a:solidFill>
            <a:srgbClr val="C89B3C"/>
          </a:solidFill>
          <a:ln w="12700">
            <a:solidFill>
              <a:srgbClr val="C89B3C"/>
            </a:solidFill>
            <a:prstDash val="solid"/>
          </a:ln>
        </p:spPr>
      </p:sp>
      <p:sp>
        <p:nvSpPr>
          <p:cNvPr id="28" name="Text 26"/>
          <p:cNvSpPr/>
          <p:nvPr/>
        </p:nvSpPr>
        <p:spPr>
          <a:xfrm>
            <a:off x="6419088" y="3136392"/>
            <a:ext cx="4818888" cy="292608"/>
          </a:xfrm>
          <a:prstGeom prst="rect">
            <a:avLst/>
          </a:prstGeom>
          <a:noFill/>
          <a:ln/>
        </p:spPr>
        <p:txBody>
          <a:bodyPr wrap="square" lIns="36576" tIns="18288" rIns="36576" bIns="18288" rtlCol="0" anchor="ctr"/>
          <a:lstStyle/>
          <a:p>
            <a:pPr>
              <a:defRPr sz="1000" b="1">
                <a:latin typeface="Arial"/>
              </a:defRPr>
            </a:pPr>
            <a:r>
              <a:t>Deliverable 2: Báo Cáo Kỹ Thuật Vi Khí Hậu (PDF)</a:t>
            </a:r>
          </a:p>
        </p:txBody>
      </p:sp>
      <p:sp>
        <p:nvSpPr>
          <p:cNvPr id="29" name="Text 27"/>
          <p:cNvSpPr/>
          <p:nvPr/>
        </p:nvSpPr>
        <p:spPr>
          <a:xfrm>
            <a:off x="6419088" y="3502152"/>
            <a:ext cx="4818888" cy="30175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Phân tích chi tiết trường nhiệt độ hè phố, chỉ số tiện nghi nhiệt UTCI/PET và thống kê số giờ phơi nắng tại từng điểm dừng xe buýt.</a:t>
            </a:r>
          </a:p>
        </p:txBody>
      </p:sp>
      <p:sp>
        <p:nvSpPr>
          <p:cNvPr id="30" name="Shape 28"/>
          <p:cNvSpPr/>
          <p:nvPr/>
        </p:nvSpPr>
        <p:spPr>
          <a:xfrm>
            <a:off x="685800" y="4206240"/>
            <a:ext cx="5166360" cy="960120"/>
          </a:xfrm>
          <a:prstGeom prst="roundRect">
            <a:avLst>
              <a:gd name="adj" fmla="val 4762"/>
            </a:avLst>
          </a:prstGeom>
          <a:solidFill>
            <a:srgbClr val="FFFFFF"/>
          </a:solidFill>
          <a:ln w="12700">
            <a:solidFill>
              <a:srgbClr val="D9E2EC"/>
            </a:solidFill>
            <a:prstDash val="solid"/>
          </a:ln>
        </p:spPr>
      </p:sp>
      <p:sp>
        <p:nvSpPr>
          <p:cNvPr id="31" name="Shape 29"/>
          <p:cNvSpPr/>
          <p:nvPr/>
        </p:nvSpPr>
        <p:spPr>
          <a:xfrm>
            <a:off x="685800" y="4206240"/>
            <a:ext cx="64008" cy="960120"/>
          </a:xfrm>
          <a:prstGeom prst="rect">
            <a:avLst/>
          </a:prstGeom>
          <a:solidFill>
            <a:srgbClr val="1F4E78"/>
          </a:solidFill>
          <a:ln w="12700">
            <a:solidFill>
              <a:srgbClr val="1F4E78"/>
            </a:solidFill>
            <a:prstDash val="solid"/>
          </a:ln>
        </p:spPr>
      </p:sp>
      <p:sp>
        <p:nvSpPr>
          <p:cNvPr id="32" name="Text 30"/>
          <p:cNvSpPr/>
          <p:nvPr/>
        </p:nvSpPr>
        <p:spPr>
          <a:xfrm>
            <a:off x="886968" y="4370832"/>
            <a:ext cx="4818888" cy="292608"/>
          </a:xfrm>
          <a:prstGeom prst="rect">
            <a:avLst/>
          </a:prstGeom>
          <a:noFill/>
          <a:ln/>
        </p:spPr>
        <p:txBody>
          <a:bodyPr wrap="square" lIns="36576" tIns="18288" rIns="36576" bIns="18288" rtlCol="0" anchor="ctr"/>
          <a:lstStyle/>
          <a:p>
            <a:pPr>
              <a:defRPr sz="1000" b="1">
                <a:latin typeface="Arial"/>
              </a:defRPr>
            </a:pPr>
            <a:r>
              <a:t>Deliverable 3: Bảng Tọa Độ Tối Ưu Dời Trạm Buýt</a:t>
            </a:r>
          </a:p>
        </p:txBody>
      </p:sp>
      <p:sp>
        <p:nvSpPr>
          <p:cNvPr id="33" name="Text 31"/>
          <p:cNvSpPr/>
          <p:nvPr/>
        </p:nvSpPr>
        <p:spPr>
          <a:xfrm>
            <a:off x="886968" y="4736592"/>
            <a:ext cx="4818888" cy="30175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Danh mục tọa độ khuyến nghị dời trạm vào bóng cây xanh tự nhiên, thiết kế mặt bằng điểm đón tuân thủ quy chuẩn TCVN 13592:2022.</a:t>
            </a:r>
          </a:p>
        </p:txBody>
      </p:sp>
      <p:sp>
        <p:nvSpPr>
          <p:cNvPr id="34" name="Shape 32"/>
          <p:cNvSpPr/>
          <p:nvPr/>
        </p:nvSpPr>
        <p:spPr>
          <a:xfrm>
            <a:off x="6217920" y="4206240"/>
            <a:ext cx="5166360" cy="960120"/>
          </a:xfrm>
          <a:prstGeom prst="roundRect">
            <a:avLst>
              <a:gd name="adj" fmla="val 4762"/>
            </a:avLst>
          </a:prstGeom>
          <a:solidFill>
            <a:srgbClr val="FFFFFF"/>
          </a:solidFill>
          <a:ln w="12700">
            <a:solidFill>
              <a:srgbClr val="D9E2EC"/>
            </a:solidFill>
            <a:prstDash val="solid"/>
          </a:ln>
        </p:spPr>
      </p:sp>
      <p:sp>
        <p:nvSpPr>
          <p:cNvPr id="35" name="Shape 33"/>
          <p:cNvSpPr/>
          <p:nvPr/>
        </p:nvSpPr>
        <p:spPr>
          <a:xfrm>
            <a:off x="6217920" y="4206240"/>
            <a:ext cx="64008" cy="960120"/>
          </a:xfrm>
          <a:prstGeom prst="rect">
            <a:avLst/>
          </a:prstGeom>
          <a:solidFill>
            <a:srgbClr val="1F4E78"/>
          </a:solidFill>
          <a:ln w="12700">
            <a:solidFill>
              <a:srgbClr val="1F4E78"/>
            </a:solidFill>
            <a:prstDash val="solid"/>
          </a:ln>
        </p:spPr>
      </p:sp>
      <p:sp>
        <p:nvSpPr>
          <p:cNvPr id="36" name="Text 34"/>
          <p:cNvSpPr/>
          <p:nvPr/>
        </p:nvSpPr>
        <p:spPr>
          <a:xfrm>
            <a:off x="6419088" y="4370832"/>
            <a:ext cx="4818888" cy="292608"/>
          </a:xfrm>
          <a:prstGeom prst="rect">
            <a:avLst/>
          </a:prstGeom>
          <a:noFill/>
          <a:ln/>
        </p:spPr>
        <p:txBody>
          <a:bodyPr wrap="square" lIns="36576" tIns="18288" rIns="36576" bIns="18288" rtlCol="0" anchor="ctr"/>
          <a:lstStyle/>
          <a:p>
            <a:pPr>
              <a:defRPr sz="1000" b="1">
                <a:latin typeface="Arial"/>
              </a:defRPr>
            </a:pPr>
            <a:r>
              <a:t>Deliverable 4: Bộ Dữ Liệu Số Trắc Địa Ẩn Danh</a:t>
            </a:r>
          </a:p>
        </p:txBody>
      </p:sp>
      <p:sp>
        <p:nvSpPr>
          <p:cNvPr id="37" name="Text 35"/>
          <p:cNvSpPr/>
          <p:nvPr/>
        </p:nvSpPr>
        <p:spPr>
          <a:xfrm>
            <a:off x="6419088" y="4736592"/>
            <a:ext cx="4818888" cy="30175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Tệp đám mây điểm LAS Point Cloud, 3D Mesh, GeoTIFF độ phân giải cao hệ tọa độ VN-2000, làm mờ 100% khuôn mặt và biển số xe.</a:t>
            </a:r>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indent="0" marL="0">
              <a:buNone/>
            </a:pPr>
            <a:r>
              <a:rPr lang="en-US" sz="2300" b="1" dirty="0">
                <a:solidFill>
                  <a:srgbClr val="17365D"/>
                </a:solidFill>
                <a:latin typeface="Arial" pitchFamily="34" charset="0"/>
                <a:ea typeface="Arial" pitchFamily="34" charset="-122"/>
                <a:cs typeface="Arial" pitchFamily="34" charset="-120"/>
              </a:rPr>
              <a:t>08. POSITIONING &amp; WHY GASCOLAE</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indent="0" marL="0">
              <a:buNone/>
            </a:pPr>
            <a:r>
              <a:rPr lang="en-US" sz="1050" dirty="0">
                <a:solidFill>
                  <a:srgbClr val="637083"/>
                </a:solidFill>
                <a:latin typeface="Arial" pitchFamily="34" charset="0"/>
                <a:ea typeface="Arial" pitchFamily="34" charset="-122"/>
                <a:cs typeface="Arial" pitchFamily="34" charset="-120"/>
              </a:rPr>
              <a:t>Vì sao khách hàng nên cân nhắc GASCOLAE?</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algn="ctr" indent="0" marL="0">
              <a:buNone/>
            </a:pPr>
            <a:r>
              <a:rPr lang="en-US" sz="850" b="1" dirty="0">
                <a:solidFill>
                  <a:srgbClr val="1F4E78"/>
                </a:solidFill>
                <a:latin typeface="Arial" pitchFamily="34" charset="0"/>
                <a:ea typeface="Arial" pitchFamily="34" charset="-122"/>
                <a:cs typeface="Arial" pitchFamily="34" charset="-120"/>
              </a:rPr>
              <a:t>WHY US</a:t>
            </a:r>
            <a:endParaRPr lang="en-US" sz="850" dirty="0"/>
          </a:p>
        </p:txBody>
      </p:sp>
      <p:sp>
        <p:nvSpPr>
          <p:cNvPr id="5" name="Shape 3"/>
          <p:cNvSpPr/>
          <p:nvPr/>
        </p:nvSpPr>
        <p:spPr>
          <a:xfrm>
            <a:off x="685800" y="1783080"/>
            <a:ext cx="3337560" cy="3383280"/>
          </a:xfrm>
          <a:prstGeom prst="roundRect">
            <a:avLst>
              <a:gd name="adj" fmla="val 1370"/>
            </a:avLst>
          </a:prstGeom>
          <a:solidFill>
            <a:srgbClr val="FFFFFF"/>
          </a:solidFill>
          <a:ln w="12700">
            <a:solidFill>
              <a:srgbClr val="D9E2EC"/>
            </a:solidFill>
            <a:prstDash val="solid"/>
          </a:ln>
        </p:spPr>
      </p:sp>
      <p:sp>
        <p:nvSpPr>
          <p:cNvPr id="6" name="Shape 4"/>
          <p:cNvSpPr/>
          <p:nvPr/>
        </p:nvSpPr>
        <p:spPr>
          <a:xfrm>
            <a:off x="685800" y="1783080"/>
            <a:ext cx="64008" cy="3383280"/>
          </a:xfrm>
          <a:prstGeom prst="rect">
            <a:avLst/>
          </a:prstGeom>
          <a:solidFill>
            <a:srgbClr val="1F4E78"/>
          </a:solidFill>
          <a:ln w="12700">
            <a:solidFill>
              <a:srgbClr val="1F4E78"/>
            </a:solidFill>
            <a:prstDash val="solid"/>
          </a:ln>
        </p:spPr>
      </p:sp>
      <p:sp>
        <p:nvSpPr>
          <p:cNvPr id="7" name="Text 5"/>
          <p:cNvSpPr/>
          <p:nvPr/>
        </p:nvSpPr>
        <p:spPr>
          <a:xfrm>
            <a:off x="886968" y="1947672"/>
            <a:ext cx="2990088" cy="292608"/>
          </a:xfrm>
          <a:prstGeom prst="rect">
            <a:avLst/>
          </a:prstGeom>
          <a:noFill/>
          <a:ln/>
        </p:spPr>
        <p:txBody>
          <a:bodyPr wrap="square" lIns="36576" tIns="18288" rIns="36576" bIns="18288" rtlCol="0" anchor="ctr"/>
          <a:lstStyle/>
          <a:p>
            <a:pPr>
              <a:defRPr sz="1100" b="1">
                <a:latin typeface="Arial"/>
              </a:defRPr>
            </a:pPr>
            <a:r>
              <a:t>Định Vị Nền Tảng (Positioning)</a:t>
            </a:r>
          </a:p>
        </p:txBody>
      </p:sp>
      <p:sp>
        <p:nvSpPr>
          <p:cNvPr id="8" name="Text 6"/>
          <p:cNvSpPr/>
          <p:nvPr/>
        </p:nvSpPr>
        <p:spPr>
          <a:xfrm>
            <a:off x="886968" y="2313432"/>
            <a:ext cx="2990088" cy="2724912"/>
          </a:xfrm>
          <a:prstGeom prst="rect">
            <a:avLst/>
          </a:prstGeom>
          <a:noFill/>
          <a:ln/>
        </p:spPr>
        <p:txBody>
          <a:bodyPr wrap="square" lIns="36576" tIns="18288" rIns="36576" bIns="18288" rtlCol="0" anchor="t"/>
          <a:lstStyle/>
          <a:p>
            <a:pPr algn="l">
              <a:lnSpc>
                <a:spcPct val="115000"/>
              </a:lnSpc>
              <a:spcBef>
                <a:spcPts val="0"/>
              </a:spcBef>
              <a:spcAft>
                <a:spcPts val="200"/>
              </a:spcAft>
            </a:pPr>
            <a:r>
              <a:rPr sz="950" b="0">
                <a:latin typeface="Arial"/>
              </a:rPr>
              <a:t>GASCOLAE S0104 là Giải pháp Tiên phong tại Việt Nam kết hợp Trắc địa Không ảnh UAV tầm thấp và Mô phỏng Vi khí hậu 3D phục vụ tối ưu hóa tiện nghi nhiệt và hạ tầng giao thông công cộng.</a:t>
            </a:r>
          </a:p>
        </p:txBody>
      </p:sp>
      <p:sp>
        <p:nvSpPr>
          <p:cNvPr id="9" name="Shape 7"/>
          <p:cNvSpPr/>
          <p:nvPr/>
        </p:nvSpPr>
        <p:spPr>
          <a:xfrm>
            <a:off x="4434840" y="1783080"/>
            <a:ext cx="3337560" cy="3383280"/>
          </a:xfrm>
          <a:prstGeom prst="roundRect">
            <a:avLst>
              <a:gd name="adj" fmla="val 1370"/>
            </a:avLst>
          </a:prstGeom>
          <a:solidFill>
            <a:srgbClr val="FFFFFF"/>
          </a:solidFill>
          <a:ln w="12700">
            <a:solidFill>
              <a:srgbClr val="D9E2EC"/>
            </a:solidFill>
            <a:prstDash val="solid"/>
          </a:ln>
        </p:spPr>
      </p:sp>
      <p:sp>
        <p:nvSpPr>
          <p:cNvPr id="10" name="Shape 8"/>
          <p:cNvSpPr/>
          <p:nvPr/>
        </p:nvSpPr>
        <p:spPr>
          <a:xfrm>
            <a:off x="4434840" y="1783080"/>
            <a:ext cx="64008" cy="3383280"/>
          </a:xfrm>
          <a:prstGeom prst="rect">
            <a:avLst/>
          </a:prstGeom>
          <a:solidFill>
            <a:srgbClr val="1F4E78"/>
          </a:solidFill>
          <a:ln w="12700">
            <a:solidFill>
              <a:srgbClr val="1F4E78"/>
            </a:solidFill>
            <a:prstDash val="solid"/>
          </a:ln>
        </p:spPr>
      </p:sp>
      <p:sp>
        <p:nvSpPr>
          <p:cNvPr id="11" name="Text 9"/>
          <p:cNvSpPr/>
          <p:nvPr/>
        </p:nvSpPr>
        <p:spPr>
          <a:xfrm>
            <a:off x="4636008" y="1947672"/>
            <a:ext cx="2990088" cy="292608"/>
          </a:xfrm>
          <a:prstGeom prst="rect">
            <a:avLst/>
          </a:prstGeom>
          <a:noFill/>
          <a:ln/>
        </p:spPr>
        <p:txBody>
          <a:bodyPr wrap="square" lIns="36576" tIns="18288" rIns="36576" bIns="18288" rtlCol="0" anchor="ctr"/>
          <a:lstStyle/>
          <a:p>
            <a:pPr>
              <a:defRPr sz="1100" b="1">
                <a:latin typeface="Arial"/>
              </a:defRPr>
            </a:pPr>
            <a:r>
              <a:t>Năng Lực Cốt Lõi (Core Competency)</a:t>
            </a:r>
          </a:p>
        </p:txBody>
      </p:sp>
      <p:sp>
        <p:nvSpPr>
          <p:cNvPr id="12" name="Text 10"/>
          <p:cNvSpPr/>
          <p:nvPr/>
        </p:nvSpPr>
        <p:spPr>
          <a:xfrm>
            <a:off x="4636008" y="2313432"/>
            <a:ext cx="2990088" cy="2724912"/>
          </a:xfrm>
          <a:prstGeom prst="rect">
            <a:avLst/>
          </a:prstGeom>
          <a:noFill/>
          <a:ln/>
        </p:spPr>
        <p:txBody>
          <a:bodyPr wrap="square" lIns="36576" tIns="18288" rIns="36576" bIns="18288" rtlCol="0" anchor="t"/>
          <a:lstStyle/>
          <a:p>
            <a:pPr algn="l">
              <a:lnSpc>
                <a:spcPct val="115000"/>
              </a:lnSpc>
              <a:spcBef>
                <a:spcPts val="0"/>
              </a:spcBef>
              <a:spcAft>
                <a:spcPts val="200"/>
              </a:spcAft>
            </a:pPr>
            <a:r>
              <a:rPr sz="950" b="0">
                <a:latin typeface="Arial"/>
              </a:rPr>
              <a:t>• Đo đạc Siêu Độ Phân Giải (GSD &lt; 1.5cm): Cụm cảm biến P1 45MP + RTK Centimeter.</a:t>
            </a:r>
          </a:p>
          <a:p>
            <a:pPr algn="l">
              <a:lnSpc>
                <a:spcPct val="115000"/>
              </a:lnSpc>
              <a:spcBef>
                <a:spcPts val="0"/>
              </a:spcBef>
              <a:spcAft>
                <a:spcPts val="200"/>
              </a:spcAft>
            </a:pPr>
            <a:r>
              <a:rPr sz="950" b="0">
                <a:latin typeface="Arial"/>
              </a:rPr>
              <a:t>• Mô phỏng Bức xạ Mặt trời SOTA 3D: Nền tảng Ladybug/SOLWEIG định lượng chính xác bóng râm theo giờ.</a:t>
            </a:r>
          </a:p>
          <a:p>
            <a:pPr algn="l">
              <a:lnSpc>
                <a:spcPct val="115000"/>
              </a:lnSpc>
              <a:spcBef>
                <a:spcPts val="0"/>
              </a:spcBef>
              <a:spcAft>
                <a:spcPts val="200"/>
              </a:spcAft>
            </a:pPr>
            <a:r>
              <a:rPr sz="950" b="0">
                <a:latin typeface="Arial"/>
              </a:rPr>
              <a:t>• Tuân thủ Tuyệt đối Quy chuẩn: TCVN 13592:2022 về hè phố &amp; Nghị định 13/2023/NĐ-CP về bảo vệ dữ liệu.</a:t>
            </a:r>
          </a:p>
        </p:txBody>
      </p:sp>
      <p:sp>
        <p:nvSpPr>
          <p:cNvPr id="13" name="Shape 11"/>
          <p:cNvSpPr/>
          <p:nvPr/>
        </p:nvSpPr>
        <p:spPr>
          <a:xfrm>
            <a:off x="8183880" y="1783080"/>
            <a:ext cx="3337560" cy="3383280"/>
          </a:xfrm>
          <a:prstGeom prst="roundRect">
            <a:avLst>
              <a:gd name="adj" fmla="val 1370"/>
            </a:avLst>
          </a:prstGeom>
          <a:solidFill>
            <a:srgbClr val="FFFFFF"/>
          </a:solidFill>
          <a:ln w="12700">
            <a:solidFill>
              <a:srgbClr val="D9E2EC"/>
            </a:solidFill>
            <a:prstDash val="solid"/>
          </a:ln>
        </p:spPr>
      </p:sp>
      <p:sp>
        <p:nvSpPr>
          <p:cNvPr id="14" name="Shape 12"/>
          <p:cNvSpPr/>
          <p:nvPr/>
        </p:nvSpPr>
        <p:spPr>
          <a:xfrm>
            <a:off x="8183880" y="1783080"/>
            <a:ext cx="64008" cy="3383280"/>
          </a:xfrm>
          <a:prstGeom prst="rect">
            <a:avLst/>
          </a:prstGeom>
          <a:solidFill>
            <a:srgbClr val="C89B3C"/>
          </a:solidFill>
          <a:ln w="12700">
            <a:solidFill>
              <a:srgbClr val="C89B3C"/>
            </a:solidFill>
            <a:prstDash val="solid"/>
          </a:ln>
        </p:spPr>
      </p:sp>
      <p:sp>
        <p:nvSpPr>
          <p:cNvPr id="15" name="Text 13"/>
          <p:cNvSpPr/>
          <p:nvPr/>
        </p:nvSpPr>
        <p:spPr>
          <a:xfrm>
            <a:off x="8385048" y="1947672"/>
            <a:ext cx="2990088" cy="292608"/>
          </a:xfrm>
          <a:prstGeom prst="rect">
            <a:avLst/>
          </a:prstGeom>
          <a:noFill/>
          <a:ln/>
        </p:spPr>
        <p:txBody>
          <a:bodyPr wrap="square" lIns="36576" tIns="18288" rIns="36576" bIns="18288" rtlCol="0" anchor="ctr"/>
          <a:lstStyle/>
          <a:p>
            <a:pPr>
              <a:defRPr sz="1100" b="1">
                <a:latin typeface="Arial"/>
              </a:defRPr>
            </a:pPr>
            <a:r>
              <a:t>Khoảng Trống Cần Xác Minh (Research Gap)</a:t>
            </a:r>
          </a:p>
        </p:txBody>
      </p:sp>
      <p:sp>
        <p:nvSpPr>
          <p:cNvPr id="16" name="Text 14"/>
          <p:cNvSpPr/>
          <p:nvPr/>
        </p:nvSpPr>
        <p:spPr>
          <a:xfrm>
            <a:off x="8385048" y="2313432"/>
            <a:ext cx="2990088" cy="2724912"/>
          </a:xfrm>
          <a:prstGeom prst="rect">
            <a:avLst/>
          </a:prstGeom>
          <a:noFill/>
          <a:ln/>
        </p:spPr>
        <p:txBody>
          <a:bodyPr wrap="square" lIns="36576" tIns="18288" rIns="36576" bIns="18288" rtlCol="0" anchor="t"/>
          <a:lstStyle/>
          <a:p>
            <a:pPr algn="l">
              <a:lnSpc>
                <a:spcPct val="115000"/>
              </a:lnSpc>
              <a:spcBef>
                <a:spcPts val="0"/>
              </a:spcBef>
              <a:spcAft>
                <a:spcPts val="200"/>
              </a:spcAft>
            </a:pPr>
            <a:r>
              <a:rPr sz="950" b="0">
                <a:latin typeface="Arial"/>
              </a:rPr>
              <a:t>• Cơ chế cấp phép bay trắc địa đô thị tầm thấp theo Luật Phòng không nhân dân 2024 đang được phối hợp thực hiện với Cục Tác chiến.</a:t>
            </a:r>
          </a:p>
          <a:p>
            <a:pPr algn="l">
              <a:lnSpc>
                <a:spcPct val="115000"/>
              </a:lnSpc>
              <a:spcBef>
                <a:spcPts val="0"/>
              </a:spcBef>
              <a:spcAft>
                <a:spcPts val="200"/>
              </a:spcAft>
            </a:pPr>
            <a:r>
              <a:rPr sz="950" b="0">
                <a:latin typeface="Arial"/>
              </a:rPr>
              <a:t>• Quy trình liên ngành giữa Sở GTVT và UBND Quận/Huyện trong phê duyệt di dời cột trạm xe buýt trên hè phố.</a:t>
            </a:r>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indent="0" marL="0">
              <a:buNone/>
            </a:pPr>
            <a:r>
              <a:rPr lang="en-US" sz="2300" b="1" dirty="0">
                <a:solidFill>
                  <a:srgbClr val="17365D"/>
                </a:solidFill>
                <a:latin typeface="Arial" pitchFamily="34" charset="0"/>
                <a:ea typeface="Arial" pitchFamily="34" charset="-122"/>
                <a:cs typeface="Arial" pitchFamily="34" charset="-120"/>
              </a:rPr>
              <a:t>09. DECISION MAKING UNIT &amp; BUYING JOURNEY</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indent="0" marL="0">
              <a:buNone/>
            </a:pPr>
            <a:r>
              <a:rPr lang="en-US" sz="1050" dirty="0">
                <a:solidFill>
                  <a:srgbClr val="637083"/>
                </a:solidFill>
                <a:latin typeface="Arial" pitchFamily="34" charset="0"/>
                <a:ea typeface="Arial" pitchFamily="34" charset="-122"/>
                <a:cs typeface="Arial" pitchFamily="34" charset="-120"/>
              </a:rPr>
              <a:t>Ai dùng, ai ảnh hưởng, ai phê duyệt và khách hàng đi qua các bước nào?</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algn="ctr" indent="0" marL="0">
              <a:buNone/>
            </a:pPr>
            <a:r>
              <a:rPr lang="en-US" sz="850" b="1" dirty="0">
                <a:solidFill>
                  <a:srgbClr val="1F4E78"/>
                </a:solidFill>
                <a:latin typeface="Arial" pitchFamily="34" charset="0"/>
                <a:ea typeface="Arial" pitchFamily="34" charset="-122"/>
                <a:cs typeface="Arial" pitchFamily="34" charset="-120"/>
              </a:rPr>
              <a:t>HOW THEY BUY</a:t>
            </a:r>
            <a:endParaRPr lang="en-US" sz="850" dirty="0"/>
          </a:p>
        </p:txBody>
      </p:sp>
      <p:sp>
        <p:nvSpPr>
          <p:cNvPr id="5" name="Shape 3"/>
          <p:cNvSpPr/>
          <p:nvPr/>
        </p:nvSpPr>
        <p:spPr>
          <a:xfrm>
            <a:off x="685800" y="1783080"/>
            <a:ext cx="3337560" cy="1508760"/>
          </a:xfrm>
          <a:prstGeom prst="roundRect">
            <a:avLst>
              <a:gd name="adj" fmla="val 3030"/>
            </a:avLst>
          </a:prstGeom>
          <a:solidFill>
            <a:srgbClr val="FFFFFF"/>
          </a:solidFill>
          <a:ln w="12700">
            <a:solidFill>
              <a:srgbClr val="D9E2EC"/>
            </a:solidFill>
            <a:prstDash val="solid"/>
          </a:ln>
        </p:spPr>
      </p:sp>
      <p:sp>
        <p:nvSpPr>
          <p:cNvPr id="6" name="Shape 4"/>
          <p:cNvSpPr/>
          <p:nvPr/>
        </p:nvSpPr>
        <p:spPr>
          <a:xfrm>
            <a:off x="685800" y="1783080"/>
            <a:ext cx="64008" cy="1508760"/>
          </a:xfrm>
          <a:prstGeom prst="rect">
            <a:avLst/>
          </a:prstGeom>
          <a:solidFill>
            <a:srgbClr val="1F4E78"/>
          </a:solidFill>
          <a:ln w="12700">
            <a:solidFill>
              <a:srgbClr val="1F4E78"/>
            </a:solidFill>
            <a:prstDash val="solid"/>
          </a:ln>
        </p:spPr>
      </p:sp>
      <p:sp>
        <p:nvSpPr>
          <p:cNvPr id="7" name="Text 5"/>
          <p:cNvSpPr/>
          <p:nvPr/>
        </p:nvSpPr>
        <p:spPr>
          <a:xfrm>
            <a:off x="886968" y="1947672"/>
            <a:ext cx="2990088" cy="292608"/>
          </a:xfrm>
          <a:prstGeom prst="rect">
            <a:avLst/>
          </a:prstGeom>
          <a:noFill/>
          <a:ln/>
        </p:spPr>
        <p:txBody>
          <a:bodyPr wrap="square" lIns="36576" tIns="18288" rIns="36576" bIns="18288" rtlCol="0" anchor="ctr"/>
          <a:lstStyle/>
          <a:p>
            <a:pPr>
              <a:defRPr sz="1050" b="1">
                <a:latin typeface="Arial"/>
              </a:defRPr>
            </a:pPr>
            <a:r>
              <a:t>User / Technical Roles</a:t>
            </a:r>
          </a:p>
        </p:txBody>
      </p:sp>
      <p:sp>
        <p:nvSpPr>
          <p:cNvPr id="8" name="Text 6"/>
          <p:cNvSpPr/>
          <p:nvPr/>
        </p:nvSpPr>
        <p:spPr>
          <a:xfrm>
            <a:off x="886968" y="2313432"/>
            <a:ext cx="2990088" cy="85039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 Cán bộ quản lý hạ tầng xe buýt (MCPT/Tramoc)</a:t>
            </a:r>
          </a:p>
          <a:p>
            <a:pPr algn="l">
              <a:lnSpc>
                <a:spcPct val="115000"/>
              </a:lnSpc>
              <a:spcBef>
                <a:spcPts val="0"/>
              </a:spcBef>
              <a:spcAft>
                <a:spcPts val="200"/>
              </a:spcAft>
            </a:pPr>
            <a:r>
              <a:rPr sz="900" b="0">
                <a:latin typeface="Arial"/>
              </a:rPr>
              <a:t>• Kỹ sư quy hoạch giao thông &amp; vỉa hè Sở GTVT</a:t>
            </a:r>
          </a:p>
          <a:p>
            <a:pPr algn="l">
              <a:lnSpc>
                <a:spcPct val="115000"/>
              </a:lnSpc>
              <a:spcBef>
                <a:spcPts val="0"/>
              </a:spcBef>
              <a:spcAft>
                <a:spcPts val="200"/>
              </a:spcAft>
            </a:pPr>
            <a:r>
              <a:rPr sz="900" b="0">
                <a:latin typeface="Arial"/>
              </a:rPr>
              <a:t>• Trưởng phòng điều hành doanh nghiệp vận tải xe buýt</a:t>
            </a:r>
          </a:p>
        </p:txBody>
      </p:sp>
      <p:sp>
        <p:nvSpPr>
          <p:cNvPr id="9" name="Shape 7"/>
          <p:cNvSpPr/>
          <p:nvPr/>
        </p:nvSpPr>
        <p:spPr>
          <a:xfrm>
            <a:off x="4434840" y="1783080"/>
            <a:ext cx="3337560" cy="1508760"/>
          </a:xfrm>
          <a:prstGeom prst="roundRect">
            <a:avLst>
              <a:gd name="adj" fmla="val 3030"/>
            </a:avLst>
          </a:prstGeom>
          <a:solidFill>
            <a:srgbClr val="FFFFFF"/>
          </a:solidFill>
          <a:ln w="12700">
            <a:solidFill>
              <a:srgbClr val="D9E2EC"/>
            </a:solidFill>
            <a:prstDash val="solid"/>
          </a:ln>
        </p:spPr>
      </p:sp>
      <p:sp>
        <p:nvSpPr>
          <p:cNvPr id="10" name="Shape 8"/>
          <p:cNvSpPr/>
          <p:nvPr/>
        </p:nvSpPr>
        <p:spPr>
          <a:xfrm>
            <a:off x="4434840" y="1783080"/>
            <a:ext cx="64008" cy="1508760"/>
          </a:xfrm>
          <a:prstGeom prst="rect">
            <a:avLst/>
          </a:prstGeom>
          <a:solidFill>
            <a:srgbClr val="1F4E78"/>
          </a:solidFill>
          <a:ln w="12700">
            <a:solidFill>
              <a:srgbClr val="1F4E78"/>
            </a:solidFill>
            <a:prstDash val="solid"/>
          </a:ln>
        </p:spPr>
      </p:sp>
      <p:sp>
        <p:nvSpPr>
          <p:cNvPr id="11" name="Text 9"/>
          <p:cNvSpPr/>
          <p:nvPr/>
        </p:nvSpPr>
        <p:spPr>
          <a:xfrm>
            <a:off x="4636008" y="1947672"/>
            <a:ext cx="2990088" cy="292608"/>
          </a:xfrm>
          <a:prstGeom prst="rect">
            <a:avLst/>
          </a:prstGeom>
          <a:noFill/>
          <a:ln/>
        </p:spPr>
        <p:txBody>
          <a:bodyPr wrap="square" lIns="36576" tIns="18288" rIns="36576" bIns="18288" rtlCol="0" anchor="ctr"/>
          <a:lstStyle/>
          <a:p>
            <a:pPr>
              <a:defRPr sz="1050" b="1">
                <a:latin typeface="Arial"/>
              </a:defRPr>
            </a:pPr>
            <a:r>
              <a:t>Influencer Roles</a:t>
            </a:r>
          </a:p>
        </p:txBody>
      </p:sp>
      <p:sp>
        <p:nvSpPr>
          <p:cNvPr id="12" name="Text 10"/>
          <p:cNvSpPr/>
          <p:nvPr/>
        </p:nvSpPr>
        <p:spPr>
          <a:xfrm>
            <a:off x="4636008" y="2313432"/>
            <a:ext cx="2990088" cy="85039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 Chuyên gia Khí hậu Đô thị &amp; Viện Quy hoạch</a:t>
            </a:r>
          </a:p>
          <a:p>
            <a:pPr algn="l">
              <a:lnSpc>
                <a:spcPct val="115000"/>
              </a:lnSpc>
              <a:spcBef>
                <a:spcPts val="0"/>
              </a:spcBef>
              <a:spcAft>
                <a:spcPts val="200"/>
              </a:spcAft>
            </a:pPr>
            <a:r>
              <a:rPr sz="900" b="0">
                <a:latin typeface="Arial"/>
              </a:rPr>
              <a:t>• Báo chí Giao thông &amp; Cộng đồng hành khách đi buýt</a:t>
            </a:r>
          </a:p>
          <a:p>
            <a:pPr algn="l">
              <a:lnSpc>
                <a:spcPct val="115000"/>
              </a:lnSpc>
              <a:spcBef>
                <a:spcPts val="0"/>
              </a:spcBef>
              <a:spcAft>
                <a:spcPts val="200"/>
              </a:spcAft>
            </a:pPr>
            <a:r>
              <a:rPr sz="900" b="0">
                <a:latin typeface="Arial"/>
              </a:rPr>
              <a:t>• Sở Xây dựng &amp; Công ty Công viên Cây xanh</a:t>
            </a:r>
          </a:p>
        </p:txBody>
      </p:sp>
      <p:sp>
        <p:nvSpPr>
          <p:cNvPr id="13" name="Shape 11"/>
          <p:cNvSpPr/>
          <p:nvPr/>
        </p:nvSpPr>
        <p:spPr>
          <a:xfrm>
            <a:off x="8183880" y="1783080"/>
            <a:ext cx="3337560" cy="1508760"/>
          </a:xfrm>
          <a:prstGeom prst="roundRect">
            <a:avLst>
              <a:gd name="adj" fmla="val 3030"/>
            </a:avLst>
          </a:prstGeom>
          <a:solidFill>
            <a:srgbClr val="FFFFFF"/>
          </a:solidFill>
          <a:ln w="12700">
            <a:solidFill>
              <a:srgbClr val="D9E2EC"/>
            </a:solidFill>
            <a:prstDash val="solid"/>
          </a:ln>
        </p:spPr>
      </p:sp>
      <p:sp>
        <p:nvSpPr>
          <p:cNvPr id="14" name="Shape 12"/>
          <p:cNvSpPr/>
          <p:nvPr/>
        </p:nvSpPr>
        <p:spPr>
          <a:xfrm>
            <a:off x="8183880" y="1783080"/>
            <a:ext cx="64008" cy="1508760"/>
          </a:xfrm>
          <a:prstGeom prst="rect">
            <a:avLst/>
          </a:prstGeom>
          <a:solidFill>
            <a:srgbClr val="C89B3C"/>
          </a:solidFill>
          <a:ln w="12700">
            <a:solidFill>
              <a:srgbClr val="C89B3C"/>
            </a:solidFill>
            <a:prstDash val="solid"/>
          </a:ln>
        </p:spPr>
      </p:sp>
      <p:sp>
        <p:nvSpPr>
          <p:cNvPr id="15" name="Text 13"/>
          <p:cNvSpPr/>
          <p:nvPr/>
        </p:nvSpPr>
        <p:spPr>
          <a:xfrm>
            <a:off x="8385048" y="1947672"/>
            <a:ext cx="2990088" cy="292608"/>
          </a:xfrm>
          <a:prstGeom prst="rect">
            <a:avLst/>
          </a:prstGeom>
          <a:noFill/>
          <a:ln/>
        </p:spPr>
        <p:txBody>
          <a:bodyPr wrap="square" lIns="36576" tIns="18288" rIns="36576" bIns="18288" rtlCol="0" anchor="ctr"/>
          <a:lstStyle/>
          <a:p>
            <a:pPr>
              <a:defRPr sz="1050" b="1">
                <a:latin typeface="Arial"/>
              </a:defRPr>
            </a:pPr>
            <a:r>
              <a:t>Economic Buyer / Approver</a:t>
            </a:r>
          </a:p>
        </p:txBody>
      </p:sp>
      <p:sp>
        <p:nvSpPr>
          <p:cNvPr id="16" name="Text 14"/>
          <p:cNvSpPr/>
          <p:nvPr/>
        </p:nvSpPr>
        <p:spPr>
          <a:xfrm>
            <a:off x="8385048" y="2313432"/>
            <a:ext cx="2990088" cy="850392"/>
          </a:xfrm>
          <a:prstGeom prst="rect">
            <a:avLst/>
          </a:prstGeom>
          <a:noFill/>
          <a:ln/>
        </p:spPr>
        <p:txBody>
          <a:bodyPr wrap="square" lIns="36576" tIns="18288" rIns="36576" bIns="18288" rtlCol="0" anchor="t"/>
          <a:lstStyle/>
          <a:p>
            <a:pPr algn="l">
              <a:lnSpc>
                <a:spcPct val="115000"/>
              </a:lnSpc>
              <a:spcBef>
                <a:spcPts val="0"/>
              </a:spcBef>
              <a:spcAft>
                <a:spcPts val="200"/>
              </a:spcAft>
            </a:pPr>
            <a:r>
              <a:rPr sz="880" b="0">
                <a:latin typeface="Arial"/>
              </a:rPr>
              <a:t>• Giám đốc Sở GTVT Tỉnh / Thành phố</a:t>
            </a:r>
          </a:p>
          <a:p>
            <a:pPr algn="l">
              <a:lnSpc>
                <a:spcPct val="115000"/>
              </a:lnSpc>
              <a:spcBef>
                <a:spcPts val="0"/>
              </a:spcBef>
              <a:spcAft>
                <a:spcPts val="200"/>
              </a:spcAft>
            </a:pPr>
            <a:r>
              <a:rPr sz="880" b="0">
                <a:latin typeface="Arial"/>
              </a:rPr>
              <a:t>• Lãnh đạo Trung tâm Quản lý Giao thông công cộng</a:t>
            </a:r>
          </a:p>
          <a:p>
            <a:pPr algn="l">
              <a:lnSpc>
                <a:spcPct val="115000"/>
              </a:lnSpc>
              <a:spcBef>
                <a:spcPts val="0"/>
              </a:spcBef>
              <a:spcAft>
                <a:spcPts val="200"/>
              </a:spcAft>
            </a:pPr>
            <a:r>
              <a:rPr sz="880" b="0">
                <a:latin typeface="Arial"/>
              </a:rPr>
              <a:t>• Hội đồng Quản trị Doanh nghiệp Vận tải Xe buýt</a:t>
            </a:r>
          </a:p>
          <a:p>
            <a:pPr algn="l">
              <a:lnSpc>
                <a:spcPct val="115000"/>
              </a:lnSpc>
              <a:spcBef>
                <a:spcPts val="0"/>
              </a:spcBef>
              <a:spcAft>
                <a:spcPts val="200"/>
              </a:spcAft>
            </a:pPr>
            <a:r>
              <a:rPr sz="880" b="0">
                <a:latin typeface="Arial"/>
              </a:rPr>
              <a:t>[CẦN BD/SALES XÁC NHẬN CỤ THỂ THEO DỰ ÁN]</a:t>
            </a:r>
          </a:p>
        </p:txBody>
      </p:sp>
      <p:sp>
        <p:nvSpPr>
          <p:cNvPr id="17" name="Text 15"/>
          <p:cNvSpPr/>
          <p:nvPr/>
        </p:nvSpPr>
        <p:spPr>
          <a:xfrm>
            <a:off x="731520" y="3886200"/>
            <a:ext cx="365760" cy="365760"/>
          </a:xfrm>
          <a:prstGeom prst="rect">
            <a:avLst/>
          </a:prstGeom>
          <a:solidFill>
            <a:srgbClr val="1F4E78"/>
          </a:solidFill>
          <a:ln/>
        </p:spPr>
        <p:txBody>
          <a:bodyPr wrap="square" lIns="635" tIns="635" rIns="635" bIns="635" rtlCol="0" anchor="ctr"/>
          <a:lstStyle/>
          <a:p>
            <a:pPr algn="ctr" indent="0" marL="0">
              <a:buNone/>
            </a:pPr>
            <a:r>
              <a:rPr lang="en-US" sz="1600" b="1" dirty="0">
                <a:solidFill>
                  <a:srgbClr val="FFFFFF"/>
                </a:solidFill>
              </a:rPr>
              <a:t>1</a:t>
            </a:r>
            <a:endParaRPr lang="en-US" sz="1600" dirty="0"/>
          </a:p>
        </p:txBody>
      </p:sp>
      <p:sp>
        <p:nvSpPr>
          <p:cNvPr id="18" name="Text 16"/>
          <p:cNvSpPr/>
          <p:nvPr/>
        </p:nvSpPr>
        <p:spPr>
          <a:xfrm>
            <a:off x="1143000" y="3886200"/>
            <a:ext cx="1645920" cy="502920"/>
          </a:xfrm>
          <a:prstGeom prst="rect">
            <a:avLst/>
          </a:prstGeom>
          <a:noFill/>
          <a:ln/>
        </p:spPr>
        <p:txBody>
          <a:bodyPr wrap="square" lIns="36576" tIns="18288" rIns="36576" bIns="18288" rtlCol="0" anchor="t"/>
          <a:lstStyle/>
          <a:p>
            <a:pPr algn="ctr">
              <a:lnSpc>
                <a:spcPct val="115000"/>
              </a:lnSpc>
              <a:spcBef>
                <a:spcPts val="0"/>
              </a:spcBef>
              <a:spcAft>
                <a:spcPts val="200"/>
              </a:spcAft>
            </a:pPr>
            <a:r>
              <a:rPr sz="850" b="0">
                <a:latin typeface="Arial"/>
              </a:rPr>
              <a:t>1. Xác Nhận Nhu Cầu</a:t>
            </a:r>
          </a:p>
          <a:p>
            <a:pPr algn="ctr">
              <a:lnSpc>
                <a:spcPct val="115000"/>
              </a:lnSpc>
              <a:spcBef>
                <a:spcPts val="0"/>
              </a:spcBef>
              <a:spcAft>
                <a:spcPts val="200"/>
              </a:spcAft>
            </a:pPr>
            <a:r>
              <a:rPr sz="850" b="0">
                <a:latin typeface="Arial"/>
              </a:rPr>
              <a:t>Thống nhất tuyến buýt cần khảo sát.</a:t>
            </a:r>
          </a:p>
        </p:txBody>
      </p:sp>
      <p:sp>
        <p:nvSpPr>
          <p:cNvPr id="19" name="Text 17"/>
          <p:cNvSpPr/>
          <p:nvPr/>
        </p:nvSpPr>
        <p:spPr>
          <a:xfrm>
            <a:off x="2926080" y="3886200"/>
            <a:ext cx="365760" cy="365760"/>
          </a:xfrm>
          <a:prstGeom prst="rect">
            <a:avLst/>
          </a:prstGeom>
          <a:solidFill>
            <a:srgbClr val="1F4E78"/>
          </a:solidFill>
          <a:ln/>
        </p:spPr>
        <p:txBody>
          <a:bodyPr wrap="square" lIns="635" tIns="635" rIns="635" bIns="635" rtlCol="0" anchor="ctr"/>
          <a:lstStyle/>
          <a:p>
            <a:pPr algn="ctr" indent="0" marL="0">
              <a:buNone/>
            </a:pPr>
            <a:r>
              <a:rPr lang="en-US" sz="1600" b="1" dirty="0">
                <a:solidFill>
                  <a:srgbClr val="FFFFFF"/>
                </a:solidFill>
              </a:rPr>
              <a:t>2</a:t>
            </a:r>
            <a:endParaRPr lang="en-US" sz="1600" dirty="0"/>
          </a:p>
        </p:txBody>
      </p:sp>
      <p:sp>
        <p:nvSpPr>
          <p:cNvPr id="20" name="Text 18"/>
          <p:cNvSpPr/>
          <p:nvPr/>
        </p:nvSpPr>
        <p:spPr>
          <a:xfrm>
            <a:off x="3337560" y="3886200"/>
            <a:ext cx="1645920" cy="502920"/>
          </a:xfrm>
          <a:prstGeom prst="rect">
            <a:avLst/>
          </a:prstGeom>
          <a:noFill/>
          <a:ln/>
        </p:spPr>
        <p:txBody>
          <a:bodyPr wrap="square" lIns="36576" tIns="18288" rIns="36576" bIns="18288" rtlCol="0" anchor="t"/>
          <a:lstStyle/>
          <a:p>
            <a:pPr algn="ctr">
              <a:lnSpc>
                <a:spcPct val="115000"/>
              </a:lnSpc>
              <a:spcBef>
                <a:spcPts val="0"/>
              </a:spcBef>
              <a:spcAft>
                <a:spcPts val="200"/>
              </a:spcAft>
            </a:pPr>
            <a:r>
              <a:rPr sz="850" b="0">
                <a:latin typeface="Arial"/>
              </a:rPr>
              <a:t>2. Thẩm Định Kỹ Thuật</a:t>
            </a:r>
          </a:p>
          <a:p>
            <a:pPr algn="ctr">
              <a:lnSpc>
                <a:spcPct val="115000"/>
              </a:lnSpc>
              <a:spcBef>
                <a:spcPts val="0"/>
              </a:spcBef>
              <a:spcAft>
                <a:spcPts val="200"/>
              </a:spcAft>
            </a:pPr>
            <a:r>
              <a:rPr sz="850" b="0">
                <a:latin typeface="Arial"/>
              </a:rPr>
              <a:t>Bay demo PoC 3–5 km xuất báo cáo mẫu.</a:t>
            </a:r>
          </a:p>
        </p:txBody>
      </p:sp>
      <p:sp>
        <p:nvSpPr>
          <p:cNvPr id="21" name="Text 19"/>
          <p:cNvSpPr/>
          <p:nvPr/>
        </p:nvSpPr>
        <p:spPr>
          <a:xfrm>
            <a:off x="5120640" y="3886200"/>
            <a:ext cx="365760" cy="365760"/>
          </a:xfrm>
          <a:prstGeom prst="rect">
            <a:avLst/>
          </a:prstGeom>
          <a:solidFill>
            <a:srgbClr val="1F4E78"/>
          </a:solidFill>
          <a:ln/>
        </p:spPr>
        <p:txBody>
          <a:bodyPr wrap="square" lIns="635" tIns="635" rIns="635" bIns="635" rtlCol="0" anchor="ctr"/>
          <a:lstStyle/>
          <a:p>
            <a:pPr algn="ctr" indent="0" marL="0">
              <a:buNone/>
            </a:pPr>
            <a:r>
              <a:rPr lang="en-US" sz="1600" b="1" dirty="0">
                <a:solidFill>
                  <a:srgbClr val="FFFFFF"/>
                </a:solidFill>
              </a:rPr>
              <a:t>3</a:t>
            </a:r>
            <a:endParaRPr lang="en-US" sz="1600" dirty="0"/>
          </a:p>
        </p:txBody>
      </p:sp>
      <p:sp>
        <p:nvSpPr>
          <p:cNvPr id="22" name="Text 20"/>
          <p:cNvSpPr/>
          <p:nvPr/>
        </p:nvSpPr>
        <p:spPr>
          <a:xfrm>
            <a:off x="5532120" y="3886200"/>
            <a:ext cx="1645920" cy="502920"/>
          </a:xfrm>
          <a:prstGeom prst="rect">
            <a:avLst/>
          </a:prstGeom>
          <a:noFill/>
          <a:ln/>
        </p:spPr>
        <p:txBody>
          <a:bodyPr wrap="square" lIns="36576" tIns="18288" rIns="36576" bIns="18288" rtlCol="0" anchor="t"/>
          <a:lstStyle/>
          <a:p>
            <a:pPr algn="ctr">
              <a:lnSpc>
                <a:spcPct val="115000"/>
              </a:lnSpc>
              <a:spcBef>
                <a:spcPts val="0"/>
              </a:spcBef>
              <a:spcAft>
                <a:spcPts val="200"/>
              </a:spcAft>
            </a:pPr>
            <a:r>
              <a:rPr sz="850" b="0">
                <a:latin typeface="Arial"/>
              </a:rPr>
              <a:t>3. Chốt Phạm Vi Dịch Vụ</a:t>
            </a:r>
          </a:p>
          <a:p>
            <a:pPr algn="ctr">
              <a:lnSpc>
                <a:spcPct val="115000"/>
              </a:lnSpc>
              <a:spcBef>
                <a:spcPts val="0"/>
              </a:spcBef>
              <a:spcAft>
                <a:spcPts val="200"/>
              </a:spcAft>
            </a:pPr>
            <a:r>
              <a:rPr sz="850" b="0">
                <a:latin typeface="Arial"/>
              </a:rPr>
              <a:t>Xác định số trạm, cự ly km &amp; SLA.</a:t>
            </a:r>
          </a:p>
        </p:txBody>
      </p:sp>
      <p:sp>
        <p:nvSpPr>
          <p:cNvPr id="23" name="Text 21"/>
          <p:cNvSpPr/>
          <p:nvPr/>
        </p:nvSpPr>
        <p:spPr>
          <a:xfrm>
            <a:off x="7315200" y="3886200"/>
            <a:ext cx="365760" cy="365760"/>
          </a:xfrm>
          <a:prstGeom prst="rect">
            <a:avLst/>
          </a:prstGeom>
          <a:solidFill>
            <a:srgbClr val="1F4E78"/>
          </a:solidFill>
          <a:ln/>
        </p:spPr>
        <p:txBody>
          <a:bodyPr wrap="square" lIns="635" tIns="635" rIns="635" bIns="635" rtlCol="0" anchor="ctr"/>
          <a:lstStyle/>
          <a:p>
            <a:pPr algn="ctr" indent="0" marL="0">
              <a:buNone/>
            </a:pPr>
            <a:r>
              <a:rPr lang="en-US" sz="1600" b="1" dirty="0">
                <a:solidFill>
                  <a:srgbClr val="FFFFFF"/>
                </a:solidFill>
              </a:rPr>
              <a:t>4</a:t>
            </a:r>
            <a:endParaRPr lang="en-US" sz="1600" dirty="0"/>
          </a:p>
        </p:txBody>
      </p:sp>
      <p:sp>
        <p:nvSpPr>
          <p:cNvPr id="24" name="Text 22"/>
          <p:cNvSpPr/>
          <p:nvPr/>
        </p:nvSpPr>
        <p:spPr>
          <a:xfrm>
            <a:off x="7726680" y="3886200"/>
            <a:ext cx="1645920" cy="502920"/>
          </a:xfrm>
          <a:prstGeom prst="rect">
            <a:avLst/>
          </a:prstGeom>
          <a:noFill/>
          <a:ln/>
        </p:spPr>
        <p:txBody>
          <a:bodyPr wrap="square" lIns="36576" tIns="18288" rIns="36576" bIns="18288" rtlCol="0" anchor="t"/>
          <a:lstStyle/>
          <a:p>
            <a:pPr algn="ctr">
              <a:lnSpc>
                <a:spcPct val="115000"/>
              </a:lnSpc>
              <a:spcBef>
                <a:spcPts val="0"/>
              </a:spcBef>
              <a:spcAft>
                <a:spcPts val="200"/>
              </a:spcAft>
            </a:pPr>
            <a:r>
              <a:rPr sz="850" b="0">
                <a:latin typeface="Arial"/>
              </a:rPr>
              <a:t>4. Đề Xuất &amp; Báo Giá</a:t>
            </a:r>
          </a:p>
          <a:p>
            <a:pPr algn="ctr">
              <a:lnSpc>
                <a:spcPct val="115000"/>
              </a:lnSpc>
              <a:spcBef>
                <a:spcPts val="0"/>
              </a:spcBef>
              <a:spcAft>
                <a:spcPts val="200"/>
              </a:spcAft>
            </a:pPr>
            <a:r>
              <a:rPr sz="850" b="0">
                <a:latin typeface="Arial"/>
              </a:rPr>
              <a:t>Bàn giao Proposal &amp; Báo giá chi tiết.</a:t>
            </a:r>
          </a:p>
        </p:txBody>
      </p:sp>
      <p:sp>
        <p:nvSpPr>
          <p:cNvPr id="25" name="Text 23"/>
          <p:cNvSpPr/>
          <p:nvPr/>
        </p:nvSpPr>
        <p:spPr>
          <a:xfrm>
            <a:off x="9509760" y="3886200"/>
            <a:ext cx="365760" cy="365760"/>
          </a:xfrm>
          <a:prstGeom prst="rect">
            <a:avLst/>
          </a:prstGeom>
          <a:solidFill>
            <a:srgbClr val="1F4E78"/>
          </a:solidFill>
          <a:ln/>
        </p:spPr>
        <p:txBody>
          <a:bodyPr wrap="square" lIns="635" tIns="635" rIns="635" bIns="635" rtlCol="0" anchor="ctr"/>
          <a:lstStyle/>
          <a:p>
            <a:pPr algn="ctr" indent="0" marL="0">
              <a:buNone/>
            </a:pPr>
            <a:r>
              <a:rPr lang="en-US" sz="1600" b="1" dirty="0">
                <a:solidFill>
                  <a:srgbClr val="FFFFFF"/>
                </a:solidFill>
              </a:rPr>
              <a:t>5</a:t>
            </a:r>
            <a:endParaRPr lang="en-US" sz="1600" dirty="0"/>
          </a:p>
        </p:txBody>
      </p:sp>
      <p:sp>
        <p:nvSpPr>
          <p:cNvPr id="26" name="Text 24"/>
          <p:cNvSpPr/>
          <p:nvPr/>
        </p:nvSpPr>
        <p:spPr>
          <a:xfrm>
            <a:off x="9921240" y="3886200"/>
            <a:ext cx="1645920" cy="502920"/>
          </a:xfrm>
          <a:prstGeom prst="rect">
            <a:avLst/>
          </a:prstGeom>
          <a:noFill/>
          <a:ln/>
        </p:spPr>
        <p:txBody>
          <a:bodyPr wrap="square" lIns="36576" tIns="18288" rIns="36576" bIns="18288" rtlCol="0" anchor="t"/>
          <a:lstStyle/>
          <a:p>
            <a:pPr algn="ctr">
              <a:lnSpc>
                <a:spcPct val="115000"/>
              </a:lnSpc>
              <a:spcBef>
                <a:spcPts val="0"/>
              </a:spcBef>
              <a:spcAft>
                <a:spcPts val="200"/>
              </a:spcAft>
            </a:pPr>
            <a:r>
              <a:rPr sz="850" b="0">
                <a:latin typeface="Arial"/>
              </a:rPr>
              <a:t>5. Phê Duyệt &amp; Hợp Đồng</a:t>
            </a:r>
          </a:p>
          <a:p>
            <a:pPr algn="ctr">
              <a:lnSpc>
                <a:spcPct val="115000"/>
              </a:lnSpc>
              <a:spcBef>
                <a:spcPts val="0"/>
              </a:spcBef>
              <a:spcAft>
                <a:spcPts val="200"/>
              </a:spcAft>
            </a:pPr>
            <a:r>
              <a:rPr sz="850" b="0">
                <a:latin typeface="Arial"/>
              </a:rPr>
              <a:t>Cấp phép bay &amp; Ký hợp đồng triển khai.</a:t>
            </a:r>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indent="0" marL="0">
              <a:buNone/>
            </a:pPr>
            <a:r>
              <a:rPr lang="en-US" sz="2300" b="1" dirty="0">
                <a:solidFill>
                  <a:srgbClr val="17365D"/>
                </a:solidFill>
                <a:latin typeface="Arial" pitchFamily="34" charset="0"/>
                <a:ea typeface="Arial" pitchFamily="34" charset="-122"/>
                <a:cs typeface="Arial" pitchFamily="34" charset="-120"/>
              </a:rPr>
              <a:t>10. SALES FAQ / OBJECTION HANDLING</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indent="0" marL="0">
              <a:buNone/>
            </a:pPr>
            <a:r>
              <a:rPr lang="en-US" sz="1050" dirty="0">
                <a:solidFill>
                  <a:srgbClr val="637083"/>
                </a:solidFill>
                <a:latin typeface="Arial" pitchFamily="34" charset="0"/>
                <a:ea typeface="Arial" pitchFamily="34" charset="-122"/>
                <a:cs typeface="Arial" pitchFamily="34" charset="-120"/>
              </a:rPr>
              <a:t>Những câu hỏi khách hàng thường cần được làm rõ trước khi đi tiếp?</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algn="ctr" indent="0" marL="0">
              <a:buNone/>
            </a:pPr>
            <a:r>
              <a:rPr lang="en-US" sz="850" b="1" dirty="0">
                <a:solidFill>
                  <a:srgbClr val="1F4E78"/>
                </a:solidFill>
                <a:latin typeface="Arial" pitchFamily="34" charset="0"/>
                <a:ea typeface="Arial" pitchFamily="34" charset="-122"/>
                <a:cs typeface="Arial" pitchFamily="34" charset="-120"/>
              </a:rPr>
              <a:t>HANDLE QUESTIONS</a:t>
            </a:r>
            <a:endParaRPr lang="en-US" sz="850" dirty="0"/>
          </a:p>
        </p:txBody>
      </p:sp>
      <p:sp>
        <p:nvSpPr>
          <p:cNvPr id="5" name="Shape 3"/>
          <p:cNvSpPr/>
          <p:nvPr/>
        </p:nvSpPr>
        <p:spPr>
          <a:xfrm>
            <a:off x="685800" y="1737360"/>
            <a:ext cx="5166360" cy="1417320"/>
          </a:xfrm>
          <a:prstGeom prst="roundRect">
            <a:avLst>
              <a:gd name="adj" fmla="val 3226"/>
            </a:avLst>
          </a:prstGeom>
          <a:solidFill>
            <a:srgbClr val="FFFFFF"/>
          </a:solidFill>
          <a:ln w="12700">
            <a:solidFill>
              <a:srgbClr val="D9E2EC"/>
            </a:solidFill>
            <a:prstDash val="solid"/>
          </a:ln>
        </p:spPr>
      </p:sp>
      <p:sp>
        <p:nvSpPr>
          <p:cNvPr id="6" name="Shape 4"/>
          <p:cNvSpPr/>
          <p:nvPr/>
        </p:nvSpPr>
        <p:spPr>
          <a:xfrm>
            <a:off x="685800" y="1737360"/>
            <a:ext cx="64008" cy="1417320"/>
          </a:xfrm>
          <a:prstGeom prst="rect">
            <a:avLst/>
          </a:prstGeom>
          <a:solidFill>
            <a:srgbClr val="1F4E78"/>
          </a:solidFill>
          <a:ln w="12700">
            <a:solidFill>
              <a:srgbClr val="1F4E78"/>
            </a:solidFill>
            <a:prstDash val="solid"/>
          </a:ln>
        </p:spPr>
      </p:sp>
      <p:sp>
        <p:nvSpPr>
          <p:cNvPr id="7" name="Text 5"/>
          <p:cNvSpPr/>
          <p:nvPr/>
        </p:nvSpPr>
        <p:spPr>
          <a:xfrm>
            <a:off x="886968" y="1901952"/>
            <a:ext cx="4818888" cy="292608"/>
          </a:xfrm>
          <a:prstGeom prst="rect">
            <a:avLst/>
          </a:prstGeom>
          <a:noFill/>
          <a:ln/>
        </p:spPr>
        <p:txBody>
          <a:bodyPr wrap="square" lIns="36576" tIns="18288" rIns="36576" bIns="18288" rtlCol="0" anchor="ctr"/>
          <a:lstStyle/>
          <a:p>
            <a:pPr>
              <a:defRPr sz="1000" b="1">
                <a:latin typeface="Arial"/>
              </a:defRPr>
            </a:pPr>
            <a:r>
              <a:t>Câu hỏi 1: Vì sao nên di dời trạm buýt vào bóng cây thay vì xây nhà chờ mới?</a:t>
            </a:r>
          </a:p>
        </p:txBody>
      </p:sp>
      <p:sp>
        <p:nvSpPr>
          <p:cNvPr id="8" name="Text 6"/>
          <p:cNvSpPr/>
          <p:nvPr/>
        </p:nvSpPr>
        <p:spPr>
          <a:xfrm>
            <a:off x="886968" y="2267712"/>
            <a:ext cx="4818888" cy="75895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Xây nhà chờ mới tốn 80–120 triệu đồng và thường vướng vỉa hè hẹp (&lt; 2m). Di dời trạm vào bóng cây chỉ tốn 3–5 triệu đồng (tiết kiệm 95%), hạ nhiệt 8–15°C UTCI ngay lập tức mà vẫn đảm bảo luồng đi bộ ≥ 1.5m.</a:t>
            </a:r>
          </a:p>
        </p:txBody>
      </p:sp>
      <p:sp>
        <p:nvSpPr>
          <p:cNvPr id="9" name="Shape 7"/>
          <p:cNvSpPr/>
          <p:nvPr/>
        </p:nvSpPr>
        <p:spPr>
          <a:xfrm>
            <a:off x="6217920" y="1737360"/>
            <a:ext cx="5166360" cy="1417320"/>
          </a:xfrm>
          <a:prstGeom prst="roundRect">
            <a:avLst>
              <a:gd name="adj" fmla="val 3226"/>
            </a:avLst>
          </a:prstGeom>
          <a:solidFill>
            <a:srgbClr val="FFFFFF"/>
          </a:solidFill>
          <a:ln w="12700">
            <a:solidFill>
              <a:srgbClr val="D9E2EC"/>
            </a:solidFill>
            <a:prstDash val="solid"/>
          </a:ln>
        </p:spPr>
      </p:sp>
      <p:sp>
        <p:nvSpPr>
          <p:cNvPr id="10" name="Shape 8"/>
          <p:cNvSpPr/>
          <p:nvPr/>
        </p:nvSpPr>
        <p:spPr>
          <a:xfrm>
            <a:off x="6217920" y="1737360"/>
            <a:ext cx="64008" cy="1417320"/>
          </a:xfrm>
          <a:prstGeom prst="rect">
            <a:avLst/>
          </a:prstGeom>
          <a:solidFill>
            <a:srgbClr val="1F4E78"/>
          </a:solidFill>
          <a:ln w="12700">
            <a:solidFill>
              <a:srgbClr val="1F4E78"/>
            </a:solidFill>
            <a:prstDash val="solid"/>
          </a:ln>
        </p:spPr>
      </p:sp>
      <p:sp>
        <p:nvSpPr>
          <p:cNvPr id="11" name="Text 9"/>
          <p:cNvSpPr/>
          <p:nvPr/>
        </p:nvSpPr>
        <p:spPr>
          <a:xfrm>
            <a:off x="6419088" y="1901952"/>
            <a:ext cx="4818888" cy="292608"/>
          </a:xfrm>
          <a:prstGeom prst="rect">
            <a:avLst/>
          </a:prstGeom>
          <a:noFill/>
          <a:ln/>
        </p:spPr>
        <p:txBody>
          <a:bodyPr wrap="square" lIns="36576" tIns="18288" rIns="36576" bIns="18288" rtlCol="0" anchor="ctr"/>
          <a:lstStyle/>
          <a:p>
            <a:pPr>
              <a:defRPr sz="1000" b="1">
                <a:latin typeface="Arial"/>
              </a:defRPr>
            </a:pPr>
            <a:r>
              <a:t>Câu hỏi 2: Mô phỏng bóng râm có chính xác theo các mùa trong năm không?</a:t>
            </a:r>
          </a:p>
        </p:txBody>
      </p:sp>
      <p:sp>
        <p:nvSpPr>
          <p:cNvPr id="12" name="Text 10"/>
          <p:cNvSpPr/>
          <p:nvPr/>
        </p:nvSpPr>
        <p:spPr>
          <a:xfrm>
            <a:off x="6419088" y="2267712"/>
            <a:ext cx="4818888" cy="75895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Mô hình 3D kết hợp quỹ đạo mặt trời Ladybug/SOLWEIG mô phỏng chính xác hướng nắng suốt 365 ngày cho 3 mốc thiên văn (Hạ chí, Xuân phân, Đông chí), phản ánh đầy đủ góc chiếu nắng xiên chiều.</a:t>
            </a:r>
          </a:p>
        </p:txBody>
      </p:sp>
      <p:sp>
        <p:nvSpPr>
          <p:cNvPr id="13" name="Shape 11"/>
          <p:cNvSpPr/>
          <p:nvPr/>
        </p:nvSpPr>
        <p:spPr>
          <a:xfrm>
            <a:off x="685800" y="3566160"/>
            <a:ext cx="5166360" cy="1417320"/>
          </a:xfrm>
          <a:prstGeom prst="roundRect">
            <a:avLst>
              <a:gd name="adj" fmla="val 3226"/>
            </a:avLst>
          </a:prstGeom>
          <a:solidFill>
            <a:srgbClr val="FFFFFF"/>
          </a:solidFill>
          <a:ln w="12700">
            <a:solidFill>
              <a:srgbClr val="D9E2EC"/>
            </a:solidFill>
            <a:prstDash val="solid"/>
          </a:ln>
        </p:spPr>
      </p:sp>
      <p:sp>
        <p:nvSpPr>
          <p:cNvPr id="14" name="Shape 12"/>
          <p:cNvSpPr/>
          <p:nvPr/>
        </p:nvSpPr>
        <p:spPr>
          <a:xfrm>
            <a:off x="685800" y="3566160"/>
            <a:ext cx="64008" cy="1417320"/>
          </a:xfrm>
          <a:prstGeom prst="rect">
            <a:avLst/>
          </a:prstGeom>
          <a:solidFill>
            <a:srgbClr val="1F4E78"/>
          </a:solidFill>
          <a:ln w="12700">
            <a:solidFill>
              <a:srgbClr val="1F4E78"/>
            </a:solidFill>
            <a:prstDash val="solid"/>
          </a:ln>
        </p:spPr>
      </p:sp>
      <p:sp>
        <p:nvSpPr>
          <p:cNvPr id="15" name="Text 13"/>
          <p:cNvSpPr/>
          <p:nvPr/>
        </p:nvSpPr>
        <p:spPr>
          <a:xfrm>
            <a:off x="886968" y="3730752"/>
            <a:ext cx="4818888" cy="292608"/>
          </a:xfrm>
          <a:prstGeom prst="rect">
            <a:avLst/>
          </a:prstGeom>
          <a:noFill/>
          <a:ln/>
        </p:spPr>
        <p:txBody>
          <a:bodyPr wrap="square" lIns="36576" tIns="18288" rIns="36576" bIns="18288" rtlCol="0" anchor="ctr"/>
          <a:lstStyle/>
          <a:p>
            <a:pPr>
              <a:defRPr sz="1000" b="1">
                <a:latin typeface="Arial"/>
              </a:defRPr>
            </a:pPr>
            <a:r>
              <a:t>Câu hỏi 3: Dữ liệu hình ảnh chụp từ UAV có vi phạm quyền riêng tư của người dân không?</a:t>
            </a:r>
          </a:p>
        </p:txBody>
      </p:sp>
      <p:sp>
        <p:nvSpPr>
          <p:cNvPr id="16" name="Text 14"/>
          <p:cNvSpPr/>
          <p:nvPr/>
        </p:nvSpPr>
        <p:spPr>
          <a:xfrm>
            <a:off x="886968" y="4096512"/>
            <a:ext cx="4818888" cy="75895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Hệ thống tích hợp thuật toán AI YOLOv8 tự động nhận diện và làm mờ 100% khuôn mặt người đi bộ và biển số xe trước khi đưa lên WebGIS, tuân thủ nghiêm ngặt Nghị định 13/2023/NĐ-CP.</a:t>
            </a:r>
          </a:p>
        </p:txBody>
      </p:sp>
      <p:sp>
        <p:nvSpPr>
          <p:cNvPr id="17" name="Shape 15"/>
          <p:cNvSpPr/>
          <p:nvPr/>
        </p:nvSpPr>
        <p:spPr>
          <a:xfrm>
            <a:off x="6217920" y="3566160"/>
            <a:ext cx="5166360" cy="1417320"/>
          </a:xfrm>
          <a:prstGeom prst="roundRect">
            <a:avLst>
              <a:gd name="adj" fmla="val 3226"/>
            </a:avLst>
          </a:prstGeom>
          <a:solidFill>
            <a:srgbClr val="FFFFFF"/>
          </a:solidFill>
          <a:ln w="12700">
            <a:solidFill>
              <a:srgbClr val="D9E2EC"/>
            </a:solidFill>
            <a:prstDash val="solid"/>
          </a:ln>
        </p:spPr>
      </p:sp>
      <p:sp>
        <p:nvSpPr>
          <p:cNvPr id="18" name="Shape 16"/>
          <p:cNvSpPr/>
          <p:nvPr/>
        </p:nvSpPr>
        <p:spPr>
          <a:xfrm>
            <a:off x="6217920" y="3566160"/>
            <a:ext cx="64008" cy="1417320"/>
          </a:xfrm>
          <a:prstGeom prst="rect">
            <a:avLst/>
          </a:prstGeom>
          <a:solidFill>
            <a:srgbClr val="C89B3C"/>
          </a:solidFill>
          <a:ln w="12700">
            <a:solidFill>
              <a:srgbClr val="C89B3C"/>
            </a:solidFill>
            <a:prstDash val="solid"/>
          </a:ln>
        </p:spPr>
      </p:sp>
      <p:sp>
        <p:nvSpPr>
          <p:cNvPr id="19" name="Text 17"/>
          <p:cNvSpPr/>
          <p:nvPr/>
        </p:nvSpPr>
        <p:spPr>
          <a:xfrm>
            <a:off x="6419088" y="3730752"/>
            <a:ext cx="4818888" cy="292608"/>
          </a:xfrm>
          <a:prstGeom prst="rect">
            <a:avLst/>
          </a:prstGeom>
          <a:noFill/>
          <a:ln/>
        </p:spPr>
        <p:txBody>
          <a:bodyPr wrap="square" lIns="36576" tIns="18288" rIns="36576" bIns="18288" rtlCol="0" anchor="ctr"/>
          <a:lstStyle/>
          <a:p>
            <a:pPr>
              <a:defRPr sz="1000" b="1">
                <a:latin typeface="Arial"/>
              </a:defRPr>
            </a:pPr>
            <a:r>
              <a:t>Câu hỏi 4: Chi phí dịch vụ được tính toán như thế nào?</a:t>
            </a:r>
          </a:p>
        </p:txBody>
      </p:sp>
      <p:sp>
        <p:nvSpPr>
          <p:cNvPr id="20" name="Text 18"/>
          <p:cNvSpPr/>
          <p:nvPr/>
        </p:nvSpPr>
        <p:spPr>
          <a:xfrm>
            <a:off x="6419088" y="4096512"/>
            <a:ext cx="4818888" cy="75895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Định giá linh hoạt theo km hành lang tuyến hoặc theo cụm điểm dừng, kèm phí duy trì WebGIS 3D hàng năm. Chi tiết tham chiếu tại tệp S0104_07_Service_Pricing.xlsx.</a:t>
            </a:r>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indent="0" marL="0">
              <a:buNone/>
            </a:pPr>
            <a:r>
              <a:rPr lang="en-US" sz="2300" b="1" dirty="0">
                <a:solidFill>
                  <a:srgbClr val="17365D"/>
                </a:solidFill>
                <a:latin typeface="Arial" pitchFamily="34" charset="0"/>
                <a:ea typeface="Arial" pitchFamily="34" charset="-122"/>
                <a:cs typeface="Arial" pitchFamily="34" charset="-120"/>
              </a:rPr>
              <a:t>11. NEXT STEP / CALL TO ACTION</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indent="0" marL="0">
              <a:buNone/>
            </a:pPr>
            <a:r>
              <a:rPr lang="en-US" sz="1050" dirty="0">
                <a:solidFill>
                  <a:srgbClr val="637083"/>
                </a:solidFill>
                <a:latin typeface="Arial" pitchFamily="34" charset="0"/>
                <a:ea typeface="Arial" pitchFamily="34" charset="-122"/>
                <a:cs typeface="Arial" pitchFamily="34" charset="-120"/>
              </a:rPr>
              <a:t>Khách hàng và GASCOLAE cần làm gì tiếp theo?</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algn="ctr" indent="0" marL="0">
              <a:buNone/>
            </a:pPr>
            <a:r>
              <a:rPr lang="en-US" sz="850" b="1" dirty="0">
                <a:solidFill>
                  <a:srgbClr val="1F4E78"/>
                </a:solidFill>
                <a:latin typeface="Arial" pitchFamily="34" charset="0"/>
                <a:ea typeface="Arial" pitchFamily="34" charset="-122"/>
                <a:cs typeface="Arial" pitchFamily="34" charset="-120"/>
              </a:rPr>
              <a:t>MOVE FORWARD</a:t>
            </a:r>
            <a:endParaRPr lang="en-US" sz="850" dirty="0"/>
          </a:p>
        </p:txBody>
      </p:sp>
      <p:sp>
        <p:nvSpPr>
          <p:cNvPr id="5" name="Text 3"/>
          <p:cNvSpPr/>
          <p:nvPr/>
        </p:nvSpPr>
        <p:spPr>
          <a:xfrm>
            <a:off x="777240" y="1691640"/>
            <a:ext cx="411480" cy="411480"/>
          </a:xfrm>
          <a:prstGeom prst="rect">
            <a:avLst/>
          </a:prstGeom>
          <a:solidFill>
            <a:srgbClr val="1F4E78"/>
          </a:solidFill>
          <a:ln/>
        </p:spPr>
        <p:txBody>
          <a:bodyPr wrap="square" lIns="635" tIns="635" rIns="635" bIns="635" rtlCol="0" anchor="ctr"/>
          <a:lstStyle/>
          <a:p>
            <a:pPr algn="ctr" indent="0" marL="0">
              <a:buNone/>
            </a:pPr>
            <a:r>
              <a:rPr lang="en-US" sz="1500" b="1" dirty="0">
                <a:solidFill>
                  <a:srgbClr val="FFFFFF"/>
                </a:solidFill>
              </a:rPr>
              <a:t>1</a:t>
            </a:r>
            <a:endParaRPr lang="en-US" sz="1500" dirty="0"/>
          </a:p>
        </p:txBody>
      </p:sp>
      <p:sp>
        <p:nvSpPr>
          <p:cNvPr id="6" name="Text 4"/>
          <p:cNvSpPr/>
          <p:nvPr/>
        </p:nvSpPr>
        <p:spPr>
          <a:xfrm>
            <a:off x="1371600" y="1719072"/>
            <a:ext cx="6675120" cy="320040"/>
          </a:xfrm>
          <a:prstGeom prst="rect">
            <a:avLst/>
          </a:prstGeom>
          <a:noFill/>
          <a:ln/>
        </p:spPr>
        <p:txBody>
          <a:bodyPr wrap="square" lIns="36576" tIns="18288" rIns="36576" bIns="18288" rtlCol="0" anchor="t"/>
          <a:lstStyle/>
          <a:p>
            <a:pPr algn="ctr">
              <a:lnSpc>
                <a:spcPct val="115000"/>
              </a:lnSpc>
              <a:spcBef>
                <a:spcPts val="0"/>
              </a:spcBef>
              <a:spcAft>
                <a:spcPts val="200"/>
              </a:spcAft>
            </a:pPr>
            <a:r>
              <a:rPr sz="850" b="0">
                <a:latin typeface="Arial"/>
              </a:rPr>
              <a:t>1. Xác Nhận Tuyến</a:t>
            </a:r>
          </a:p>
          <a:p>
            <a:pPr algn="ctr">
              <a:lnSpc>
                <a:spcPct val="115000"/>
              </a:lnSpc>
              <a:spcBef>
                <a:spcPts val="0"/>
              </a:spcBef>
              <a:spcAft>
                <a:spcPts val="200"/>
              </a:spcAft>
            </a:pPr>
            <a:r>
              <a:rPr sz="850" b="0">
                <a:latin typeface="Arial"/>
              </a:rPr>
              <a:t>Cung cấp danh mục trạm dừng &amp; lộ trình cần khảo sát.</a:t>
            </a:r>
          </a:p>
        </p:txBody>
      </p:sp>
      <p:sp>
        <p:nvSpPr>
          <p:cNvPr id="7" name="Text 5"/>
          <p:cNvSpPr/>
          <p:nvPr/>
        </p:nvSpPr>
        <p:spPr>
          <a:xfrm>
            <a:off x="777240" y="2441448"/>
            <a:ext cx="411480" cy="411480"/>
          </a:xfrm>
          <a:prstGeom prst="rect">
            <a:avLst/>
          </a:prstGeom>
          <a:solidFill>
            <a:srgbClr val="1F4E78"/>
          </a:solidFill>
          <a:ln/>
        </p:spPr>
        <p:txBody>
          <a:bodyPr wrap="square" lIns="635" tIns="635" rIns="635" bIns="635" rtlCol="0" anchor="ctr"/>
          <a:lstStyle/>
          <a:p>
            <a:pPr algn="ctr" indent="0" marL="0">
              <a:buNone/>
            </a:pPr>
            <a:r>
              <a:rPr lang="en-US" sz="1500" b="1" dirty="0">
                <a:solidFill>
                  <a:srgbClr val="FFFFFF"/>
                </a:solidFill>
              </a:rPr>
              <a:t>2</a:t>
            </a:r>
            <a:endParaRPr lang="en-US" sz="1500" dirty="0"/>
          </a:p>
        </p:txBody>
      </p:sp>
      <p:sp>
        <p:nvSpPr>
          <p:cNvPr id="8" name="Text 6"/>
          <p:cNvSpPr/>
          <p:nvPr/>
        </p:nvSpPr>
        <p:spPr>
          <a:xfrm>
            <a:off x="1371600" y="2468880"/>
            <a:ext cx="6675120" cy="320040"/>
          </a:xfrm>
          <a:prstGeom prst="rect">
            <a:avLst/>
          </a:prstGeom>
          <a:noFill/>
          <a:ln/>
        </p:spPr>
        <p:txBody>
          <a:bodyPr wrap="square" lIns="36576" tIns="18288" rIns="36576" bIns="18288" rtlCol="0" anchor="t"/>
          <a:lstStyle/>
          <a:p>
            <a:pPr algn="ctr">
              <a:lnSpc>
                <a:spcPct val="115000"/>
              </a:lnSpc>
              <a:spcBef>
                <a:spcPts val="0"/>
              </a:spcBef>
              <a:spcAft>
                <a:spcPts val="200"/>
              </a:spcAft>
            </a:pPr>
            <a:r>
              <a:rPr sz="850" b="0">
                <a:latin typeface="Arial"/>
              </a:rPr>
              <a:t>2. Phối Hợp Hiện Trường</a:t>
            </a:r>
          </a:p>
          <a:p>
            <a:pPr algn="ctr">
              <a:lnSpc>
                <a:spcPct val="115000"/>
              </a:lnSpc>
              <a:spcBef>
                <a:spcPts val="0"/>
              </a:spcBef>
              <a:spcAft>
                <a:spcPts val="200"/>
              </a:spcAft>
            </a:pPr>
            <a:r>
              <a:rPr sz="850" b="0">
                <a:latin typeface="Arial"/>
              </a:rPr>
              <a:t>Cung cấp thông tin vỉa hè &amp; liên hệ chính quyền.</a:t>
            </a:r>
          </a:p>
        </p:txBody>
      </p:sp>
      <p:sp>
        <p:nvSpPr>
          <p:cNvPr id="9" name="Text 7"/>
          <p:cNvSpPr/>
          <p:nvPr/>
        </p:nvSpPr>
        <p:spPr>
          <a:xfrm>
            <a:off x="777240" y="3191256"/>
            <a:ext cx="411480" cy="411480"/>
          </a:xfrm>
          <a:prstGeom prst="rect">
            <a:avLst/>
          </a:prstGeom>
          <a:solidFill>
            <a:srgbClr val="1F4E78"/>
          </a:solidFill>
          <a:ln/>
        </p:spPr>
        <p:txBody>
          <a:bodyPr wrap="square" lIns="635" tIns="635" rIns="635" bIns="635" rtlCol="0" anchor="ctr"/>
          <a:lstStyle/>
          <a:p>
            <a:pPr algn="ctr" indent="0" marL="0">
              <a:buNone/>
            </a:pPr>
            <a:r>
              <a:rPr lang="en-US" sz="1500" b="1" dirty="0">
                <a:solidFill>
                  <a:srgbClr val="FFFFFF"/>
                </a:solidFill>
              </a:rPr>
              <a:t>3</a:t>
            </a:r>
            <a:endParaRPr lang="en-US" sz="1500" dirty="0"/>
          </a:p>
        </p:txBody>
      </p:sp>
      <p:sp>
        <p:nvSpPr>
          <p:cNvPr id="10" name="Text 8"/>
          <p:cNvSpPr/>
          <p:nvPr/>
        </p:nvSpPr>
        <p:spPr>
          <a:xfrm>
            <a:off x="1371600" y="3218688"/>
            <a:ext cx="6675120" cy="320040"/>
          </a:xfrm>
          <a:prstGeom prst="rect">
            <a:avLst/>
          </a:prstGeom>
          <a:noFill/>
          <a:ln/>
        </p:spPr>
        <p:txBody>
          <a:bodyPr wrap="square" lIns="36576" tIns="18288" rIns="36576" bIns="18288" rtlCol="0" anchor="t"/>
          <a:lstStyle/>
          <a:p>
            <a:pPr algn="ctr">
              <a:lnSpc>
                <a:spcPct val="115000"/>
              </a:lnSpc>
              <a:spcBef>
                <a:spcPts val="0"/>
              </a:spcBef>
              <a:spcAft>
                <a:spcPts val="200"/>
              </a:spcAft>
            </a:pPr>
            <a:r>
              <a:rPr sz="850" b="0">
                <a:latin typeface="Arial"/>
              </a:rPr>
              <a:t>3. Chọn Gói Dịch Vụ</a:t>
            </a:r>
          </a:p>
          <a:p>
            <a:pPr algn="ctr">
              <a:lnSpc>
                <a:spcPct val="115000"/>
              </a:lnSpc>
              <a:spcBef>
                <a:spcPts val="0"/>
              </a:spcBef>
              <a:spcAft>
                <a:spcPts val="200"/>
              </a:spcAft>
            </a:pPr>
            <a:r>
              <a:rPr sz="850" b="0">
                <a:latin typeface="Arial"/>
              </a:rPr>
              <a:t>Lựa chọn gói Level 1, Level 2 hoặc Level 3 phù hợp.</a:t>
            </a:r>
          </a:p>
        </p:txBody>
      </p:sp>
      <p:sp>
        <p:nvSpPr>
          <p:cNvPr id="11" name="Text 9"/>
          <p:cNvSpPr/>
          <p:nvPr/>
        </p:nvSpPr>
        <p:spPr>
          <a:xfrm>
            <a:off x="777240" y="3941064"/>
            <a:ext cx="411480" cy="411480"/>
          </a:xfrm>
          <a:prstGeom prst="rect">
            <a:avLst/>
          </a:prstGeom>
          <a:solidFill>
            <a:srgbClr val="1F4E78"/>
          </a:solidFill>
          <a:ln/>
        </p:spPr>
        <p:txBody>
          <a:bodyPr wrap="square" lIns="635" tIns="635" rIns="635" bIns="635" rtlCol="0" anchor="ctr"/>
          <a:lstStyle/>
          <a:p>
            <a:pPr algn="ctr" indent="0" marL="0">
              <a:buNone/>
            </a:pPr>
            <a:r>
              <a:rPr lang="en-US" sz="1500" b="1" dirty="0">
                <a:solidFill>
                  <a:srgbClr val="FFFFFF"/>
                </a:solidFill>
              </a:rPr>
              <a:t>4</a:t>
            </a:r>
            <a:endParaRPr lang="en-US" sz="1500" dirty="0"/>
          </a:p>
        </p:txBody>
      </p:sp>
      <p:sp>
        <p:nvSpPr>
          <p:cNvPr id="12" name="Text 10"/>
          <p:cNvSpPr/>
          <p:nvPr/>
        </p:nvSpPr>
        <p:spPr>
          <a:xfrm>
            <a:off x="1371600" y="3968496"/>
            <a:ext cx="6675120" cy="320040"/>
          </a:xfrm>
          <a:prstGeom prst="rect">
            <a:avLst/>
          </a:prstGeom>
          <a:noFill/>
          <a:ln/>
        </p:spPr>
        <p:txBody>
          <a:bodyPr wrap="square" lIns="36576" tIns="18288" rIns="36576" bIns="18288" rtlCol="0" anchor="t"/>
          <a:lstStyle/>
          <a:p>
            <a:pPr algn="ctr">
              <a:lnSpc>
                <a:spcPct val="115000"/>
              </a:lnSpc>
              <a:spcBef>
                <a:spcPts val="0"/>
              </a:spcBef>
              <a:spcAft>
                <a:spcPts val="200"/>
              </a:spcAft>
            </a:pPr>
            <a:r>
              <a:rPr sz="850" b="0">
                <a:latin typeface="Arial"/>
              </a:rPr>
              <a:t>4. Nhận Đề Xuất &amp; Báo Giá</a:t>
            </a:r>
          </a:p>
          <a:p>
            <a:pPr algn="ctr">
              <a:lnSpc>
                <a:spcPct val="115000"/>
              </a:lnSpc>
              <a:spcBef>
                <a:spcPts val="0"/>
              </a:spcBef>
              <a:spcAft>
                <a:spcPts val="200"/>
              </a:spcAft>
            </a:pPr>
            <a:r>
              <a:rPr sz="850" b="0">
                <a:latin typeface="Arial"/>
              </a:rPr>
              <a:t>Tiếp nhận Proposal kỹ thuật &amp; Bảng dự toán chi tiết.</a:t>
            </a:r>
          </a:p>
        </p:txBody>
      </p:sp>
      <p:sp>
        <p:nvSpPr>
          <p:cNvPr id="13" name="Text 11"/>
          <p:cNvSpPr/>
          <p:nvPr/>
        </p:nvSpPr>
        <p:spPr>
          <a:xfrm>
            <a:off x="777240" y="4690872"/>
            <a:ext cx="411480" cy="411480"/>
          </a:xfrm>
          <a:prstGeom prst="rect">
            <a:avLst/>
          </a:prstGeom>
          <a:solidFill>
            <a:srgbClr val="C89B3C"/>
          </a:solidFill>
          <a:ln/>
        </p:spPr>
        <p:txBody>
          <a:bodyPr wrap="square" lIns="635" tIns="635" rIns="635" bIns="635" rtlCol="0" anchor="ctr"/>
          <a:lstStyle/>
          <a:p>
            <a:pPr algn="ctr" indent="0" marL="0">
              <a:buNone/>
            </a:pPr>
            <a:r>
              <a:rPr lang="en-US" sz="1500" b="1" dirty="0">
                <a:solidFill>
                  <a:srgbClr val="FFFFFF"/>
                </a:solidFill>
              </a:rPr>
              <a:t>5</a:t>
            </a:r>
            <a:endParaRPr lang="en-US" sz="1500" dirty="0"/>
          </a:p>
        </p:txBody>
      </p:sp>
      <p:sp>
        <p:nvSpPr>
          <p:cNvPr id="14" name="Text 12"/>
          <p:cNvSpPr/>
          <p:nvPr/>
        </p:nvSpPr>
        <p:spPr>
          <a:xfrm>
            <a:off x="1371600" y="4718304"/>
            <a:ext cx="6675120" cy="320040"/>
          </a:xfrm>
          <a:prstGeom prst="rect">
            <a:avLst/>
          </a:prstGeom>
          <a:noFill/>
          <a:ln/>
        </p:spPr>
        <p:txBody>
          <a:bodyPr wrap="square" lIns="36576" tIns="18288" rIns="36576" bIns="18288" rtlCol="0" anchor="t"/>
          <a:lstStyle/>
          <a:p>
            <a:pPr algn="ctr">
              <a:lnSpc>
                <a:spcPct val="115000"/>
              </a:lnSpc>
              <a:spcBef>
                <a:spcPts val="0"/>
              </a:spcBef>
              <a:spcAft>
                <a:spcPts val="200"/>
              </a:spcAft>
            </a:pPr>
            <a:r>
              <a:rPr sz="850" b="0">
                <a:latin typeface="Arial"/>
              </a:rPr>
              <a:t>5. Ký Hợp Đồng &amp; Triển Khai</a:t>
            </a:r>
          </a:p>
          <a:p>
            <a:pPr algn="ctr">
              <a:lnSpc>
                <a:spcPct val="115000"/>
              </a:lnSpc>
              <a:spcBef>
                <a:spcPts val="0"/>
              </a:spcBef>
              <a:spcAft>
                <a:spcPts val="200"/>
              </a:spcAft>
            </a:pPr>
            <a:r>
              <a:rPr sz="850" b="0">
                <a:latin typeface="Arial"/>
              </a:rPr>
              <a:t>Ký kết hợp đồng dịch vụ và bay quét trong 6 tuần.</a:t>
            </a:r>
          </a:p>
        </p:txBody>
      </p:sp>
      <p:sp>
        <p:nvSpPr>
          <p:cNvPr id="15" name="Shape 13"/>
          <p:cNvSpPr/>
          <p:nvPr/>
        </p:nvSpPr>
        <p:spPr>
          <a:xfrm>
            <a:off x="8458200" y="1691640"/>
            <a:ext cx="2971800" cy="3566160"/>
          </a:xfrm>
          <a:prstGeom prst="roundRect">
            <a:avLst>
              <a:gd name="adj" fmla="val 1538"/>
            </a:avLst>
          </a:prstGeom>
          <a:solidFill>
            <a:srgbClr val="FFFFFF"/>
          </a:solidFill>
          <a:ln w="12700">
            <a:solidFill>
              <a:srgbClr val="D9E2EC"/>
            </a:solidFill>
            <a:prstDash val="solid"/>
          </a:ln>
        </p:spPr>
      </p:sp>
      <p:sp>
        <p:nvSpPr>
          <p:cNvPr id="16" name="Shape 14"/>
          <p:cNvSpPr/>
          <p:nvPr/>
        </p:nvSpPr>
        <p:spPr>
          <a:xfrm>
            <a:off x="8458200" y="1691640"/>
            <a:ext cx="64008" cy="3566160"/>
          </a:xfrm>
          <a:prstGeom prst="rect">
            <a:avLst/>
          </a:prstGeom>
          <a:solidFill>
            <a:srgbClr val="548235"/>
          </a:solidFill>
          <a:ln w="12700">
            <a:solidFill>
              <a:srgbClr val="548235"/>
            </a:solidFill>
            <a:prstDash val="solid"/>
          </a:ln>
        </p:spPr>
      </p:sp>
      <p:sp>
        <p:nvSpPr>
          <p:cNvPr id="17" name="Text 15"/>
          <p:cNvSpPr/>
          <p:nvPr/>
        </p:nvSpPr>
        <p:spPr>
          <a:xfrm>
            <a:off x="8659368" y="1856232"/>
            <a:ext cx="2624328" cy="292608"/>
          </a:xfrm>
          <a:prstGeom prst="rect">
            <a:avLst/>
          </a:prstGeom>
          <a:noFill/>
          <a:ln/>
        </p:spPr>
        <p:txBody>
          <a:bodyPr wrap="square" lIns="36576" tIns="18288" rIns="36576" bIns="18288" rtlCol="0" anchor="ctr"/>
          <a:lstStyle/>
          <a:p>
            <a:pPr>
              <a:defRPr sz="1050" b="1">
                <a:latin typeface="Arial"/>
              </a:defRPr>
            </a:pPr>
            <a:r>
              <a:t>SOURCE TRACEABILITY</a:t>
            </a:r>
          </a:p>
        </p:txBody>
      </p:sp>
      <p:sp>
        <p:nvSpPr>
          <p:cNvPr id="18" name="Text 16"/>
          <p:cNvSpPr/>
          <p:nvPr/>
        </p:nvSpPr>
        <p:spPr>
          <a:xfrm>
            <a:off x="8659368" y="2221992"/>
            <a:ext cx="2624328" cy="2907792"/>
          </a:xfrm>
          <a:prstGeom prst="rect">
            <a:avLst/>
          </a:prstGeom>
          <a:noFill/>
          <a:ln/>
        </p:spPr>
        <p:txBody>
          <a:bodyPr wrap="square" lIns="36576" tIns="18288" rIns="36576" bIns="18288" rtlCol="0" anchor="t"/>
          <a:lstStyle/>
          <a:p>
            <a:pPr algn="l">
              <a:lnSpc>
                <a:spcPct val="115000"/>
              </a:lnSpc>
              <a:spcBef>
                <a:spcPts val="0"/>
              </a:spcBef>
              <a:spcAft>
                <a:spcPts val="200"/>
              </a:spcAft>
            </a:pPr>
            <a:r>
              <a:rPr sz="900" b="0">
                <a:latin typeface="Arial"/>
              </a:rPr>
              <a:t>• Research Workbook S0104: 20 câu hỏi &amp; 20 nguồn SOTA (SRC-01 đến SRC-20)</a:t>
            </a:r>
          </a:p>
          <a:p>
            <a:pPr algn="l">
              <a:lnSpc>
                <a:spcPct val="115000"/>
              </a:lnSpc>
              <a:spcBef>
                <a:spcPts val="0"/>
              </a:spcBef>
              <a:spcAft>
                <a:spcPts val="200"/>
              </a:spcAft>
            </a:pPr>
            <a:r>
              <a:rPr sz="900" b="0">
                <a:latin typeface="Arial"/>
              </a:rPr>
              <a:t>• Knowledge Base S0104: Kiến trúc hệ thống, phần cứng M350 RTK, P1, M3T, Ladybug</a:t>
            </a:r>
          </a:p>
          <a:p>
            <a:pPr algn="l">
              <a:lnSpc>
                <a:spcPct val="115000"/>
              </a:lnSpc>
              <a:spcBef>
                <a:spcPts val="0"/>
              </a:spcBef>
              <a:spcAft>
                <a:spcPts val="200"/>
              </a:spcAft>
            </a:pPr>
            <a:r>
              <a:rPr sz="900" b="0">
                <a:latin typeface="Arial"/>
              </a:rPr>
              <a:t>• Service Profile S0104: 4 Pain points, 4 Value propositions, 3 Service levels</a:t>
            </a:r>
          </a:p>
          <a:p>
            <a:pPr algn="l">
              <a:lnSpc>
                <a:spcPct val="115000"/>
              </a:lnSpc>
              <a:spcBef>
                <a:spcPts val="0"/>
              </a:spcBef>
              <a:spcAft>
                <a:spcPts val="200"/>
              </a:spcAft>
            </a:pPr>
            <a:r>
              <a:rPr sz="900" b="0">
                <a:latin typeface="Arial"/>
              </a:rPr>
              <a:t>• Service SOP S0104: Quy trình trắc địa 8 bước, Checklist GO-NO GO, TCVN 13592:2022</a:t>
            </a:r>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indent="0" marL="0">
              <a:buNone/>
            </a:pPr>
            <a:r>
              <a:rPr lang="en-US" sz="2300" b="1" dirty="0">
                <a:solidFill>
                  <a:srgbClr val="17365D"/>
                </a:solidFill>
                <a:latin typeface="Arial" pitchFamily="34" charset="0"/>
                <a:ea typeface="Arial" pitchFamily="34" charset="-122"/>
                <a:cs typeface="Arial" pitchFamily="34" charset="-120"/>
              </a:rPr>
              <a:t>12. CHECKLIST TRƯỚC KHI NỘP</a:t>
            </a:r>
            <a:endParaRPr lang="en-US" sz="2300" dirty="0"/>
          </a:p>
        </p:txBody>
      </p:sp>
      <p:sp>
        <p:nvSpPr>
          <p:cNvPr id="3" name="Text 1"/>
          <p:cNvSpPr/>
          <p:nvPr/>
        </p:nvSpPr>
        <p:spPr>
          <a:xfrm>
            <a:off x="585216" y="987552"/>
            <a:ext cx="10881360" cy="347472"/>
          </a:xfrm>
          <a:prstGeom prst="rect">
            <a:avLst/>
          </a:prstGeom>
          <a:noFill/>
          <a:ln/>
        </p:spPr>
        <p:txBody>
          <a:bodyPr wrap="square" lIns="36576" tIns="18288" rIns="36576" bIns="18288" rtlCol="0" anchor="ctr"/>
          <a:lstStyle/>
          <a:p>
            <a:pPr>
              <a:defRPr sz="1000" b="0" i="1">
                <a:latin typeface="Arial"/>
              </a:defRPr>
            </a:pPr>
            <a:r>
              <a:t>Kiểm tra chất lượng bộ Sales Kit trước khi trình chiếu &amp; bàn giao.</a:t>
            </a:r>
          </a:p>
        </p:txBody>
      </p:sp>
      <p:sp>
        <p:nvSpPr>
          <p:cNvPr id="4" name="Text 2"/>
          <p:cNvSpPr/>
          <p:nvPr/>
        </p:nvSpPr>
        <p:spPr>
          <a:xfrm>
            <a:off x="731520" y="1508760"/>
            <a:ext cx="320040" cy="274320"/>
          </a:xfrm>
          <a:prstGeom prst="rect">
            <a:avLst/>
          </a:prstGeom>
          <a:noFill/>
          <a:ln/>
        </p:spPr>
        <p:txBody>
          <a:bodyPr wrap="square" lIns="0" tIns="0" rIns="0" bIns="0" rtlCol="0" anchor="ctr"/>
          <a:lstStyle/>
          <a:p>
            <a:pPr>
              <a:defRPr sz="1200" b="1">
                <a:latin typeface="Arial"/>
              </a:defRPr>
            </a:pPr>
            <a:r>
              <a:t>☑</a:t>
            </a:r>
          </a:p>
        </p:txBody>
      </p:sp>
      <p:sp>
        <p:nvSpPr>
          <p:cNvPr id="5" name="Text 3"/>
          <p:cNvSpPr/>
          <p:nvPr/>
        </p:nvSpPr>
        <p:spPr>
          <a:xfrm>
            <a:off x="1097280" y="1508760"/>
            <a:ext cx="4800600" cy="411480"/>
          </a:xfrm>
          <a:prstGeom prst="rect">
            <a:avLst/>
          </a:prstGeom>
          <a:noFill/>
          <a:ln/>
        </p:spPr>
        <p:txBody>
          <a:bodyPr wrap="square" lIns="0" tIns="0" rIns="0" bIns="0" rtlCol="0" anchor="ctr"/>
          <a:lstStyle/>
          <a:p>
            <a:pPr indent="0" marL="0">
              <a:buNone/>
            </a:pPr>
            <a:r>
              <a:rPr lang="en-US" sz="970" dirty="0">
                <a:solidFill>
                  <a:srgbClr val="25364A"/>
                </a:solidFill>
              </a:rPr>
              <a:t>Đúng Service ID / tên service</a:t>
            </a:r>
            <a:endParaRPr lang="en-US" sz="970" dirty="0"/>
          </a:p>
        </p:txBody>
      </p:sp>
      <p:sp>
        <p:nvSpPr>
          <p:cNvPr id="6" name="Text 4"/>
          <p:cNvSpPr/>
          <p:nvPr/>
        </p:nvSpPr>
        <p:spPr>
          <a:xfrm>
            <a:off x="731520" y="2167128"/>
            <a:ext cx="320040" cy="274320"/>
          </a:xfrm>
          <a:prstGeom prst="rect">
            <a:avLst/>
          </a:prstGeom>
          <a:noFill/>
          <a:ln/>
        </p:spPr>
        <p:txBody>
          <a:bodyPr wrap="square" lIns="0" tIns="0" rIns="0" bIns="0" rtlCol="0" anchor="ctr"/>
          <a:lstStyle/>
          <a:p>
            <a:pPr>
              <a:defRPr sz="1200" b="1">
                <a:latin typeface="Arial"/>
              </a:defRPr>
            </a:pPr>
            <a:r>
              <a:t>☑</a:t>
            </a:r>
          </a:p>
        </p:txBody>
      </p:sp>
      <p:sp>
        <p:nvSpPr>
          <p:cNvPr id="7" name="Text 5"/>
          <p:cNvSpPr/>
          <p:nvPr/>
        </p:nvSpPr>
        <p:spPr>
          <a:xfrm>
            <a:off x="1097280" y="2167128"/>
            <a:ext cx="4800600" cy="411480"/>
          </a:xfrm>
          <a:prstGeom prst="rect">
            <a:avLst/>
          </a:prstGeom>
          <a:noFill/>
          <a:ln/>
        </p:spPr>
        <p:txBody>
          <a:bodyPr wrap="square" lIns="0" tIns="0" rIns="0" bIns="0" rtlCol="0" anchor="ctr"/>
          <a:lstStyle/>
          <a:p>
            <a:pPr indent="0" marL="0">
              <a:buNone/>
            </a:pPr>
            <a:r>
              <a:rPr lang="en-US" sz="970" dirty="0">
                <a:solidFill>
                  <a:srgbClr val="25364A"/>
                </a:solidFill>
              </a:rPr>
              <a:t>Target Customer có căn cứ</a:t>
            </a:r>
            <a:endParaRPr lang="en-US" sz="970" dirty="0"/>
          </a:p>
        </p:txBody>
      </p:sp>
      <p:sp>
        <p:nvSpPr>
          <p:cNvPr id="8" name="Text 6"/>
          <p:cNvSpPr/>
          <p:nvPr/>
        </p:nvSpPr>
        <p:spPr>
          <a:xfrm>
            <a:off x="731520" y="2825496"/>
            <a:ext cx="320040" cy="274320"/>
          </a:xfrm>
          <a:prstGeom prst="rect">
            <a:avLst/>
          </a:prstGeom>
          <a:noFill/>
          <a:ln/>
        </p:spPr>
        <p:txBody>
          <a:bodyPr wrap="square" lIns="0" tIns="0" rIns="0" bIns="0" rtlCol="0" anchor="ctr"/>
          <a:lstStyle/>
          <a:p>
            <a:pPr>
              <a:defRPr sz="1200" b="1">
                <a:latin typeface="Arial"/>
              </a:defRPr>
            </a:pPr>
            <a:r>
              <a:t>☑</a:t>
            </a:r>
          </a:p>
        </p:txBody>
      </p:sp>
      <p:sp>
        <p:nvSpPr>
          <p:cNvPr id="9" name="Text 7"/>
          <p:cNvSpPr/>
          <p:nvPr/>
        </p:nvSpPr>
        <p:spPr>
          <a:xfrm>
            <a:off x="1097280" y="2825496"/>
            <a:ext cx="4800600" cy="411480"/>
          </a:xfrm>
          <a:prstGeom prst="rect">
            <a:avLst/>
          </a:prstGeom>
          <a:noFill/>
          <a:ln/>
        </p:spPr>
        <p:txBody>
          <a:bodyPr wrap="square" lIns="0" tIns="0" rIns="0" bIns="0" rtlCol="0" anchor="ctr"/>
          <a:lstStyle/>
          <a:p>
            <a:pPr indent="0" marL="0">
              <a:buNone/>
            </a:pPr>
            <a:r>
              <a:rPr lang="en-US" sz="970" dirty="0">
                <a:solidFill>
                  <a:srgbClr val="25364A"/>
                </a:solidFill>
              </a:rPr>
              <a:t>Problem và Value Proposition thống nhất Group 1</a:t>
            </a:r>
            <a:endParaRPr lang="en-US" sz="970" dirty="0"/>
          </a:p>
        </p:txBody>
      </p:sp>
      <p:sp>
        <p:nvSpPr>
          <p:cNvPr id="10" name="Text 8"/>
          <p:cNvSpPr/>
          <p:nvPr/>
        </p:nvSpPr>
        <p:spPr>
          <a:xfrm>
            <a:off x="731520" y="3483864"/>
            <a:ext cx="320040" cy="274320"/>
          </a:xfrm>
          <a:prstGeom prst="rect">
            <a:avLst/>
          </a:prstGeom>
          <a:noFill/>
          <a:ln/>
        </p:spPr>
        <p:txBody>
          <a:bodyPr wrap="square" lIns="0" tIns="0" rIns="0" bIns="0" rtlCol="0" anchor="ctr"/>
          <a:lstStyle/>
          <a:p>
            <a:pPr>
              <a:defRPr sz="1200" b="1">
                <a:latin typeface="Arial"/>
              </a:defRPr>
            </a:pPr>
            <a:r>
              <a:t>☑</a:t>
            </a:r>
          </a:p>
        </p:txBody>
      </p:sp>
      <p:sp>
        <p:nvSpPr>
          <p:cNvPr id="11" name="Text 9"/>
          <p:cNvSpPr/>
          <p:nvPr/>
        </p:nvSpPr>
        <p:spPr>
          <a:xfrm>
            <a:off x="1097280" y="3483864"/>
            <a:ext cx="4800600" cy="411480"/>
          </a:xfrm>
          <a:prstGeom prst="rect">
            <a:avLst/>
          </a:prstGeom>
          <a:noFill/>
          <a:ln/>
        </p:spPr>
        <p:txBody>
          <a:bodyPr wrap="square" lIns="0" tIns="0" rIns="0" bIns="0" rtlCol="0" anchor="ctr"/>
          <a:lstStyle/>
          <a:p>
            <a:pPr indent="0" marL="0">
              <a:buNone/>
            </a:pPr>
            <a:r>
              <a:rPr lang="en-US" sz="970" dirty="0">
                <a:solidFill>
                  <a:srgbClr val="25364A"/>
                </a:solidFill>
              </a:rPr>
              <a:t>Use Case / Level / Deliverables không tự tạo</a:t>
            </a:r>
            <a:endParaRPr lang="en-US" sz="970" dirty="0"/>
          </a:p>
        </p:txBody>
      </p:sp>
      <p:sp>
        <p:nvSpPr>
          <p:cNvPr id="12" name="Text 10"/>
          <p:cNvSpPr/>
          <p:nvPr/>
        </p:nvSpPr>
        <p:spPr>
          <a:xfrm>
            <a:off x="731520" y="4142232"/>
            <a:ext cx="320040" cy="274320"/>
          </a:xfrm>
          <a:prstGeom prst="rect">
            <a:avLst/>
          </a:prstGeom>
          <a:noFill/>
          <a:ln/>
        </p:spPr>
        <p:txBody>
          <a:bodyPr wrap="square" lIns="0" tIns="0" rIns="0" bIns="0" rtlCol="0" anchor="ctr"/>
          <a:lstStyle/>
          <a:p>
            <a:pPr>
              <a:defRPr sz="1200" b="1">
                <a:latin typeface="Arial"/>
              </a:defRPr>
            </a:pPr>
            <a:r>
              <a:t>☑</a:t>
            </a:r>
          </a:p>
        </p:txBody>
      </p:sp>
      <p:sp>
        <p:nvSpPr>
          <p:cNvPr id="13" name="Text 11"/>
          <p:cNvSpPr/>
          <p:nvPr/>
        </p:nvSpPr>
        <p:spPr>
          <a:xfrm>
            <a:off x="1097280" y="4142232"/>
            <a:ext cx="4800600" cy="411480"/>
          </a:xfrm>
          <a:prstGeom prst="rect">
            <a:avLst/>
          </a:prstGeom>
          <a:noFill/>
          <a:ln/>
        </p:spPr>
        <p:txBody>
          <a:bodyPr wrap="square" lIns="0" tIns="0" rIns="0" bIns="0" rtlCol="0" anchor="ctr"/>
          <a:lstStyle/>
          <a:p>
            <a:pPr indent="0" marL="0">
              <a:buNone/>
            </a:pPr>
            <a:r>
              <a:rPr lang="en-US" sz="970" dirty="0">
                <a:solidFill>
                  <a:srgbClr val="25364A"/>
                </a:solidFill>
              </a:rPr>
              <a:t>Không đưa giá chi tiết vào Sales Kit</a:t>
            </a:r>
            <a:endParaRPr lang="en-US" sz="970" dirty="0"/>
          </a:p>
        </p:txBody>
      </p:sp>
      <p:sp>
        <p:nvSpPr>
          <p:cNvPr id="14" name="Text 12"/>
          <p:cNvSpPr/>
          <p:nvPr/>
        </p:nvSpPr>
        <p:spPr>
          <a:xfrm>
            <a:off x="731520" y="4800600"/>
            <a:ext cx="320040" cy="274320"/>
          </a:xfrm>
          <a:prstGeom prst="rect">
            <a:avLst/>
          </a:prstGeom>
          <a:noFill/>
          <a:ln/>
        </p:spPr>
        <p:txBody>
          <a:bodyPr wrap="square" lIns="0" tIns="0" rIns="0" bIns="0" rtlCol="0" anchor="ctr"/>
          <a:lstStyle/>
          <a:p>
            <a:pPr>
              <a:defRPr sz="1200" b="1">
                <a:latin typeface="Arial"/>
              </a:defRPr>
            </a:pPr>
            <a:r>
              <a:t>☑</a:t>
            </a:r>
          </a:p>
        </p:txBody>
      </p:sp>
      <p:sp>
        <p:nvSpPr>
          <p:cNvPr id="15" name="Text 13"/>
          <p:cNvSpPr/>
          <p:nvPr/>
        </p:nvSpPr>
        <p:spPr>
          <a:xfrm>
            <a:off x="1097280" y="4800600"/>
            <a:ext cx="4800600" cy="411480"/>
          </a:xfrm>
          <a:prstGeom prst="rect">
            <a:avLst/>
          </a:prstGeom>
          <a:noFill/>
          <a:ln/>
        </p:spPr>
        <p:txBody>
          <a:bodyPr wrap="square" lIns="0" tIns="0" rIns="0" bIns="0" rtlCol="0" anchor="ctr"/>
          <a:lstStyle/>
          <a:p>
            <a:pPr indent="0" marL="0">
              <a:buNone/>
            </a:pPr>
            <a:r>
              <a:rPr lang="en-US" sz="970" dirty="0">
                <a:solidFill>
                  <a:srgbClr val="25364A"/>
                </a:solidFill>
              </a:rPr>
              <a:t>Positioning / Core Competency có nguồn</a:t>
            </a:r>
            <a:endParaRPr lang="en-US" sz="970" dirty="0"/>
          </a:p>
        </p:txBody>
      </p:sp>
      <p:sp>
        <p:nvSpPr>
          <p:cNvPr id="16" name="Text 14"/>
          <p:cNvSpPr/>
          <p:nvPr/>
        </p:nvSpPr>
        <p:spPr>
          <a:xfrm>
            <a:off x="6263640" y="1508760"/>
            <a:ext cx="320040" cy="274320"/>
          </a:xfrm>
          <a:prstGeom prst="rect">
            <a:avLst/>
          </a:prstGeom>
          <a:noFill/>
          <a:ln/>
        </p:spPr>
        <p:txBody>
          <a:bodyPr wrap="square" lIns="0" tIns="0" rIns="0" bIns="0" rtlCol="0" anchor="ctr"/>
          <a:lstStyle/>
          <a:p>
            <a:pPr>
              <a:defRPr sz="1200" b="1">
                <a:latin typeface="Arial"/>
              </a:defRPr>
            </a:pPr>
            <a:r>
              <a:t>☑</a:t>
            </a:r>
          </a:p>
        </p:txBody>
      </p:sp>
      <p:sp>
        <p:nvSpPr>
          <p:cNvPr id="17" name="Text 15"/>
          <p:cNvSpPr/>
          <p:nvPr/>
        </p:nvSpPr>
        <p:spPr>
          <a:xfrm>
            <a:off x="6629400" y="1508760"/>
            <a:ext cx="4800600" cy="411480"/>
          </a:xfrm>
          <a:prstGeom prst="rect">
            <a:avLst/>
          </a:prstGeom>
          <a:noFill/>
          <a:ln/>
        </p:spPr>
        <p:txBody>
          <a:bodyPr wrap="square" lIns="0" tIns="0" rIns="0" bIns="0" rtlCol="0" anchor="ctr"/>
          <a:lstStyle/>
          <a:p>
            <a:pPr indent="0" marL="0">
              <a:buNone/>
            </a:pPr>
            <a:r>
              <a:rPr lang="en-US" sz="970" dirty="0">
                <a:solidFill>
                  <a:srgbClr val="25364A"/>
                </a:solidFill>
              </a:rPr>
              <a:t>DMU / Buying Journey chưa rõ được đánh dấu xác minh</a:t>
            </a:r>
            <a:endParaRPr lang="en-US" sz="970" dirty="0"/>
          </a:p>
        </p:txBody>
      </p:sp>
      <p:sp>
        <p:nvSpPr>
          <p:cNvPr id="18" name="Text 16"/>
          <p:cNvSpPr/>
          <p:nvPr/>
        </p:nvSpPr>
        <p:spPr>
          <a:xfrm>
            <a:off x="6263640" y="2167128"/>
            <a:ext cx="320040" cy="274320"/>
          </a:xfrm>
          <a:prstGeom prst="rect">
            <a:avLst/>
          </a:prstGeom>
          <a:noFill/>
          <a:ln/>
        </p:spPr>
        <p:txBody>
          <a:bodyPr wrap="square" lIns="0" tIns="0" rIns="0" bIns="0" rtlCol="0" anchor="ctr"/>
          <a:lstStyle/>
          <a:p>
            <a:pPr>
              <a:defRPr sz="1200" b="1">
                <a:latin typeface="Arial"/>
              </a:defRPr>
            </a:pPr>
            <a:r>
              <a:t>☑</a:t>
            </a:r>
          </a:p>
        </p:txBody>
      </p:sp>
      <p:sp>
        <p:nvSpPr>
          <p:cNvPr id="19" name="Text 17"/>
          <p:cNvSpPr/>
          <p:nvPr/>
        </p:nvSpPr>
        <p:spPr>
          <a:xfrm>
            <a:off x="6629400" y="2167128"/>
            <a:ext cx="4800600" cy="411480"/>
          </a:xfrm>
          <a:prstGeom prst="rect">
            <a:avLst/>
          </a:prstGeom>
          <a:noFill/>
          <a:ln/>
        </p:spPr>
        <p:txBody>
          <a:bodyPr wrap="square" lIns="0" tIns="0" rIns="0" bIns="0" rtlCol="0" anchor="ctr"/>
          <a:lstStyle/>
          <a:p>
            <a:pPr indent="0" marL="0">
              <a:buNone/>
            </a:pPr>
            <a:r>
              <a:rPr lang="en-US" sz="970" dirty="0">
                <a:solidFill>
                  <a:srgbClr val="25364A"/>
                </a:solidFill>
              </a:rPr>
              <a:t>FAQ không tự bịa</a:t>
            </a:r>
            <a:endParaRPr lang="en-US" sz="970" dirty="0"/>
          </a:p>
        </p:txBody>
      </p:sp>
      <p:sp>
        <p:nvSpPr>
          <p:cNvPr id="20" name="Text 18"/>
          <p:cNvSpPr/>
          <p:nvPr/>
        </p:nvSpPr>
        <p:spPr>
          <a:xfrm>
            <a:off x="6263640" y="2825496"/>
            <a:ext cx="320040" cy="274320"/>
          </a:xfrm>
          <a:prstGeom prst="rect">
            <a:avLst/>
          </a:prstGeom>
          <a:noFill/>
          <a:ln/>
        </p:spPr>
        <p:txBody>
          <a:bodyPr wrap="square" lIns="0" tIns="0" rIns="0" bIns="0" rtlCol="0" anchor="ctr"/>
          <a:lstStyle/>
          <a:p>
            <a:pPr>
              <a:defRPr sz="1200" b="1">
                <a:latin typeface="Arial"/>
              </a:defRPr>
            </a:pPr>
            <a:r>
              <a:t>☑</a:t>
            </a:r>
          </a:p>
        </p:txBody>
      </p:sp>
      <p:sp>
        <p:nvSpPr>
          <p:cNvPr id="21" name="Text 19"/>
          <p:cNvSpPr/>
          <p:nvPr/>
        </p:nvSpPr>
        <p:spPr>
          <a:xfrm>
            <a:off x="6629400" y="2825496"/>
            <a:ext cx="4800600" cy="411480"/>
          </a:xfrm>
          <a:prstGeom prst="rect">
            <a:avLst/>
          </a:prstGeom>
          <a:noFill/>
          <a:ln/>
        </p:spPr>
        <p:txBody>
          <a:bodyPr wrap="square" lIns="0" tIns="0" rIns="0" bIns="0" rtlCol="0" anchor="ctr"/>
          <a:lstStyle/>
          <a:p>
            <a:pPr indent="0" marL="0">
              <a:buNone/>
            </a:pPr>
            <a:r>
              <a:rPr lang="en-US" sz="970" dirty="0">
                <a:solidFill>
                  <a:srgbClr val="25364A"/>
                </a:solidFill>
              </a:rPr>
              <a:t>Không có claim định lượng chưa duyệt</a:t>
            </a:r>
            <a:endParaRPr lang="en-US" sz="970" dirty="0"/>
          </a:p>
        </p:txBody>
      </p:sp>
      <p:sp>
        <p:nvSpPr>
          <p:cNvPr id="22" name="Text 20"/>
          <p:cNvSpPr/>
          <p:nvPr/>
        </p:nvSpPr>
        <p:spPr>
          <a:xfrm>
            <a:off x="6263640" y="3483864"/>
            <a:ext cx="320040" cy="274320"/>
          </a:xfrm>
          <a:prstGeom prst="rect">
            <a:avLst/>
          </a:prstGeom>
          <a:noFill/>
          <a:ln/>
        </p:spPr>
        <p:txBody>
          <a:bodyPr wrap="square" lIns="0" tIns="0" rIns="0" bIns="0" rtlCol="0" anchor="ctr"/>
          <a:lstStyle/>
          <a:p>
            <a:pPr>
              <a:defRPr sz="1200" b="1">
                <a:latin typeface="Arial"/>
              </a:defRPr>
            </a:pPr>
            <a:r>
              <a:t>☑</a:t>
            </a:r>
          </a:p>
        </p:txBody>
      </p:sp>
      <p:sp>
        <p:nvSpPr>
          <p:cNvPr id="23" name="Text 21"/>
          <p:cNvSpPr/>
          <p:nvPr/>
        </p:nvSpPr>
        <p:spPr>
          <a:xfrm>
            <a:off x="6629400" y="3483864"/>
            <a:ext cx="4800600" cy="411480"/>
          </a:xfrm>
          <a:prstGeom prst="rect">
            <a:avLst/>
          </a:prstGeom>
          <a:noFill/>
          <a:ln/>
        </p:spPr>
        <p:txBody>
          <a:bodyPr wrap="square" lIns="0" tIns="0" rIns="0" bIns="0" rtlCol="0" anchor="ctr"/>
          <a:lstStyle/>
          <a:p>
            <a:pPr indent="0" marL="0">
              <a:buNone/>
            </a:pPr>
            <a:r>
              <a:rPr lang="en-US" sz="970" dirty="0">
                <a:solidFill>
                  <a:srgbClr val="25364A"/>
                </a:solidFill>
              </a:rPr>
              <a:t>Có Source Traceability</a:t>
            </a:r>
            <a:endParaRPr lang="en-US" sz="970" dirty="0"/>
          </a:p>
        </p:txBody>
      </p:sp>
      <p:sp>
        <p:nvSpPr>
          <p:cNvPr id="24" name="Text 22"/>
          <p:cNvSpPr/>
          <p:nvPr/>
        </p:nvSpPr>
        <p:spPr>
          <a:xfrm>
            <a:off x="6263640" y="4142232"/>
            <a:ext cx="320040" cy="274320"/>
          </a:xfrm>
          <a:prstGeom prst="rect">
            <a:avLst/>
          </a:prstGeom>
          <a:noFill/>
          <a:ln/>
        </p:spPr>
        <p:txBody>
          <a:bodyPr wrap="square" lIns="0" tIns="0" rIns="0" bIns="0" rtlCol="0" anchor="ctr"/>
          <a:lstStyle/>
          <a:p>
            <a:pPr>
              <a:defRPr sz="1200" b="1">
                <a:latin typeface="Arial"/>
              </a:defRPr>
            </a:pPr>
            <a:r>
              <a:t>☑</a:t>
            </a:r>
          </a:p>
        </p:txBody>
      </p:sp>
      <p:sp>
        <p:nvSpPr>
          <p:cNvPr id="25" name="Text 23"/>
          <p:cNvSpPr/>
          <p:nvPr/>
        </p:nvSpPr>
        <p:spPr>
          <a:xfrm>
            <a:off x="6629400" y="4142232"/>
            <a:ext cx="4800600" cy="411480"/>
          </a:xfrm>
          <a:prstGeom prst="rect">
            <a:avLst/>
          </a:prstGeom>
          <a:noFill/>
          <a:ln/>
        </p:spPr>
        <p:txBody>
          <a:bodyPr wrap="square" lIns="0" tIns="0" rIns="0" bIns="0" rtlCol="0" anchor="ctr"/>
          <a:lstStyle/>
          <a:p>
            <a:pPr indent="0" marL="0">
              <a:buNone/>
            </a:pPr>
            <a:r>
              <a:rPr lang="en-US" sz="970" dirty="0">
                <a:solidFill>
                  <a:srgbClr val="25364A"/>
                </a:solidFill>
              </a:rPr>
              <a:t>Slide ngắn gọn, dễ đọc, không copy toàn bộ KB/SOP</a:t>
            </a:r>
            <a:endParaRPr lang="en-US" sz="970" dirty="0"/>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GASCOLAE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06 GASCOLAE Service Sales Kit</dc:title>
  <dc:subject>Service Sales Kit</dc:subject>
  <dc:creator>GASCOLAE Platform</dc:creator>
  <cp:lastModifiedBy>GASCOLAE Platform</cp:lastModifiedBy>
  <cp:revision>1</cp:revision>
  <dcterms:created xsi:type="dcterms:W3CDTF">2026-08-19T11:14:15Z</dcterms:created>
  <dcterms:modified xsi:type="dcterms:W3CDTF">2026-08-19T11:14:15Z</dcterms:modified>
</cp:coreProperties>
</file>